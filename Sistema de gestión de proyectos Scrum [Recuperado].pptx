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27"/>
  </p:notesMasterIdLst>
  <p:handoutMasterIdLst>
    <p:handoutMasterId r:id="rId28"/>
  </p:handoutMasterIdLst>
  <p:sldIdLst>
    <p:sldId id="256" r:id="rId5"/>
    <p:sldId id="294" r:id="rId6"/>
    <p:sldId id="287" r:id="rId7"/>
    <p:sldId id="277" r:id="rId8"/>
    <p:sldId id="261" r:id="rId9"/>
    <p:sldId id="262" r:id="rId10"/>
    <p:sldId id="289" r:id="rId11"/>
    <p:sldId id="264" r:id="rId12"/>
    <p:sldId id="258" r:id="rId13"/>
    <p:sldId id="278" r:id="rId14"/>
    <p:sldId id="266" r:id="rId15"/>
    <p:sldId id="292" r:id="rId16"/>
    <p:sldId id="293" r:id="rId17"/>
    <p:sldId id="280" r:id="rId18"/>
    <p:sldId id="270" r:id="rId19"/>
    <p:sldId id="271" r:id="rId20"/>
    <p:sldId id="260" r:id="rId21"/>
    <p:sldId id="282" r:id="rId22"/>
    <p:sldId id="283" r:id="rId23"/>
    <p:sldId id="290" r:id="rId24"/>
    <p:sldId id="275" r:id="rId25"/>
    <p:sldId id="276" r:id="rId26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5653" autoAdjust="0"/>
    <p:restoredTop sz="94660"/>
  </p:normalViewPr>
  <p:slideViewPr>
    <p:cSldViewPr snapToGrid="0">
      <p:cViewPr varScale="1">
        <p:scale>
          <a:sx n="126" d="100"/>
          <a:sy n="126" d="100"/>
        </p:scale>
        <p:origin x="4954" y="86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4632" y="13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chemeClr val="tx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20XX</c:v>
                </c:pt>
                <c:pt idx="1">
                  <c:v>20XX</c:v>
                </c:pt>
                <c:pt idx="2">
                  <c:v>20XX</c:v>
                </c:pt>
                <c:pt idx="3">
                  <c:v>20XX</c:v>
                </c:pt>
              </c:strCache>
            </c:strRef>
          </c:cat>
          <c:val>
            <c:numRef>
              <c:f>Sheet1!$B$2:$B$5</c:f>
              <c:numCache>
                <c:formatCode>#,##0\ "€"</c:formatCode>
                <c:ptCount val="4"/>
                <c:pt idx="0">
                  <c:v>10000</c:v>
                </c:pt>
                <c:pt idx="1">
                  <c:v>20000</c:v>
                </c:pt>
                <c:pt idx="2">
                  <c:v>30000</c:v>
                </c:pt>
                <c:pt idx="3">
                  <c:v>40000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80-4025-ABCB-85931C353E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8"/>
        <c:overlap val="-3"/>
        <c:axId val="694597680"/>
        <c:axId val="694598992"/>
      </c:barChart>
      <c:catAx>
        <c:axId val="6945976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694598992"/>
        <c:crosses val="autoZero"/>
        <c:auto val="1"/>
        <c:lblAlgn val="ctr"/>
        <c:lblOffset val="100"/>
        <c:noMultiLvlLbl val="0"/>
      </c:catAx>
      <c:valAx>
        <c:axId val="694598992"/>
        <c:scaling>
          <c:orientation val="minMax"/>
          <c:max val="40000"/>
        </c:scaling>
        <c:delete val="0"/>
        <c:axPos val="l"/>
        <c:majorGridlines>
          <c:spPr>
            <a:ln w="9525" cap="flat" cmpd="sng" algn="ctr">
              <a:solidFill>
                <a:schemeClr val="accent1">
                  <a:lumMod val="75000"/>
                </a:schemeClr>
              </a:solidFill>
              <a:round/>
            </a:ln>
            <a:effectLst/>
          </c:spPr>
        </c:majorGridlines>
        <c:numFmt formatCode="#,##0\ &quot;€&quot;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694597680"/>
        <c:crosses val="autoZero"/>
        <c:crossBetween val="between"/>
        <c:majorUnit val="10000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Ventas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CE6-4310-A8B0-2035D854994C}"/>
              </c:ext>
            </c:extLst>
          </c:dPt>
          <c:dPt>
            <c:idx val="1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CE6-4310-A8B0-2035D854994C}"/>
              </c:ext>
            </c:extLst>
          </c:dPt>
          <c:dPt>
            <c:idx val="2"/>
            <c:bubble3D val="0"/>
            <c:spPr>
              <a:solidFill>
                <a:schemeClr val="tx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1CE6-4310-A8B0-2035D854994C}"/>
              </c:ext>
            </c:extLst>
          </c:dPt>
          <c:dPt>
            <c:idx val="3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1CE6-4310-A8B0-2035D854994C}"/>
              </c:ext>
            </c:extLst>
          </c:dPt>
          <c:cat>
            <c:strRef>
              <c:f>Sheet1!$A$2:$A$5</c:f>
              <c:strCache>
                <c:ptCount val="4"/>
                <c:pt idx="0">
                  <c:v>Parte 1</c:v>
                </c:pt>
                <c:pt idx="1">
                  <c:v>Parte 2</c:v>
                </c:pt>
                <c:pt idx="2">
                  <c:v>Parte 3</c:v>
                </c:pt>
                <c:pt idx="3">
                  <c:v>Parte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82000</c:v>
                </c:pt>
                <c:pt idx="1">
                  <c:v>32000</c:v>
                </c:pt>
                <c:pt idx="2">
                  <c:v>14000</c:v>
                </c:pt>
                <c:pt idx="3">
                  <c:v>12000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CE6-4310-A8B0-2035D85499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16"/>
        <c:holeSize val="8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Ventas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8EE-4329-89F6-BD625CE6A08A}"/>
              </c:ext>
            </c:extLst>
          </c:dPt>
          <c:dPt>
            <c:idx val="1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8EE-4329-89F6-BD625CE6A08A}"/>
              </c:ext>
            </c:extLst>
          </c:dPt>
          <c:dPt>
            <c:idx val="2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E8EE-4329-89F6-BD625CE6A08A}"/>
              </c:ext>
            </c:extLst>
          </c:dPt>
          <c:dPt>
            <c:idx val="3"/>
            <c:bubble3D val="0"/>
            <c:spPr>
              <a:solidFill>
                <a:schemeClr val="tx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E8EE-4329-89F6-BD625CE6A08A}"/>
              </c:ext>
            </c:extLst>
          </c:dPt>
          <c:cat>
            <c:strRef>
              <c:f>Sheet1!$A$2:$A$5</c:f>
              <c:strCache>
                <c:ptCount val="4"/>
                <c:pt idx="0">
                  <c:v>Parte 1</c:v>
                </c:pt>
                <c:pt idx="1">
                  <c:v>Parte 2</c:v>
                </c:pt>
                <c:pt idx="2">
                  <c:v>Parte 3</c:v>
                </c:pt>
                <c:pt idx="3">
                  <c:v>Parte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82000</c:v>
                </c:pt>
                <c:pt idx="1">
                  <c:v>32000</c:v>
                </c:pt>
                <c:pt idx="2">
                  <c:v>14000</c:v>
                </c:pt>
                <c:pt idx="3">
                  <c:v>12000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8EE-4329-89F6-BD625CE6A0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16"/>
        <c:holeSize val="8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Ventas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tx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039-4882-B53F-7D54DC816E33}"/>
              </c:ext>
            </c:extLst>
          </c:dPt>
          <c:dPt>
            <c:idx val="1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039-4882-B53F-7D54DC816E33}"/>
              </c:ext>
            </c:extLst>
          </c:dPt>
          <c:dPt>
            <c:idx val="2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039-4882-B53F-7D54DC816E33}"/>
              </c:ext>
            </c:extLst>
          </c:dPt>
          <c:dPt>
            <c:idx val="3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B039-4882-B53F-7D54DC816E33}"/>
              </c:ext>
            </c:extLst>
          </c:dPt>
          <c:cat>
            <c:strRef>
              <c:f>Sheet1!$A$2:$A$5</c:f>
              <c:strCache>
                <c:ptCount val="4"/>
                <c:pt idx="0">
                  <c:v>Parte 1</c:v>
                </c:pt>
                <c:pt idx="1">
                  <c:v>Parte 2</c:v>
                </c:pt>
                <c:pt idx="2">
                  <c:v>Parte 3</c:v>
                </c:pt>
                <c:pt idx="3">
                  <c:v>Parte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82000</c:v>
                </c:pt>
                <c:pt idx="1">
                  <c:v>32000</c:v>
                </c:pt>
                <c:pt idx="2">
                  <c:v>14000</c:v>
                </c:pt>
                <c:pt idx="3">
                  <c:v>12000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039-4882-B53F-7D54DC816E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16"/>
        <c:holeSize val="8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Ventas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BEE-4C20-AC0D-26BEDCBA2FE1}"/>
              </c:ext>
            </c:extLst>
          </c:dPt>
          <c:dPt>
            <c:idx val="1"/>
            <c:bubble3D val="0"/>
            <c:spPr>
              <a:solidFill>
                <a:schemeClr val="tx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BEE-4C20-AC0D-26BEDCBA2FE1}"/>
              </c:ext>
            </c:extLst>
          </c:dPt>
          <c:dPt>
            <c:idx val="2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BEE-4C20-AC0D-26BEDCBA2FE1}"/>
              </c:ext>
            </c:extLst>
          </c:dPt>
          <c:dPt>
            <c:idx val="3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DBEE-4C20-AC0D-26BEDCBA2FE1}"/>
              </c:ext>
            </c:extLst>
          </c:dPt>
          <c:cat>
            <c:strRef>
              <c:f>Sheet1!$A$2:$A$5</c:f>
              <c:strCache>
                <c:ptCount val="4"/>
                <c:pt idx="0">
                  <c:v>Parte 1</c:v>
                </c:pt>
                <c:pt idx="1">
                  <c:v>Parte 2</c:v>
                </c:pt>
                <c:pt idx="2">
                  <c:v>Parte 3</c:v>
                </c:pt>
                <c:pt idx="3">
                  <c:v>Parte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82000</c:v>
                </c:pt>
                <c:pt idx="1">
                  <c:v>32000</c:v>
                </c:pt>
                <c:pt idx="2">
                  <c:v>14000</c:v>
                </c:pt>
                <c:pt idx="3">
                  <c:v>12000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BEE-4C20-AC0D-26BEDCBA2F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16"/>
        <c:holeSize val="8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DA49006-DE92-401C-BC9A-E01A2E9A55AD}" type="datetime1">
              <a:rPr lang="es-ES" smtClean="0"/>
              <a:t>09/06/2022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DD2296-4015-4C4F-A06C-A353B4B3F106}" type="datetime1">
              <a:rPr lang="es-ES" smtClean="0"/>
              <a:pPr/>
              <a:t>09/06/2022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B9A9E5-4F7F-4A7D-9DE1-899232329269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868351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604197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760106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823661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4B9A9E5-4F7F-4A7D-9DE1-899232329269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860653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170393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166566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328130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344582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12788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080625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46270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190554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728229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s-ES" smtClean="0"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288085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s-ES" smtClean="0"/>
              <a:t>17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523840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s-ES" smtClean="0"/>
              <a:t>18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048847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s-ES" smtClean="0"/>
              <a:t>19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523641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s-ES" smtClean="0"/>
              <a:t>20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104000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s-ES" smtClean="0"/>
              <a:t>21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98928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s-ES" smtClean="0"/>
              <a:t>22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484585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/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16041" y="5586890"/>
            <a:ext cx="4941770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ronogra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áfico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EDITAR EL TÍTULO</a:t>
            </a:r>
          </a:p>
        </p:txBody>
      </p: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s-ES" noProof="0"/>
              <a:t>HAGA CLIC PARA MODIFICAR LOS ESTILOS DEL TEXTO MAESTRO</a:t>
            </a:r>
          </a:p>
        </p:txBody>
      </p:sp>
      <p:sp>
        <p:nvSpPr>
          <p:cNvPr id="17" name="Marcador de texto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s-ES" noProof="0"/>
              <a:t>HAGA CLIC PARA MODIFICAR LOS ESTILOS DEL TEXTO MAESTRO</a:t>
            </a:r>
          </a:p>
        </p:txBody>
      </p:sp>
      <p:sp>
        <p:nvSpPr>
          <p:cNvPr id="18" name="Marcador de texto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s-ES" noProof="0"/>
              <a:t>HAGA CLIC PARA MODIFICAR LOS ESTILOS DEL TEXTO MAESTRO</a:t>
            </a:r>
          </a:p>
        </p:txBody>
      </p:sp>
      <p:sp>
        <p:nvSpPr>
          <p:cNvPr id="19" name="Marcador de texto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s-ES" noProof="0"/>
              <a:t>HAGA CLIC PARA MODIFICAR LOS ESTILOS DEL TEXTO MAESTRO</a:t>
            </a:r>
          </a:p>
        </p:txBody>
      </p:sp>
      <p:sp>
        <p:nvSpPr>
          <p:cNvPr id="34" name="Marcador de texto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s-ES" noProof="0"/>
              <a:t>Haga clic para modificar los estilos del texto maestro</a:t>
            </a:r>
          </a:p>
        </p:txBody>
      </p:sp>
      <p:sp>
        <p:nvSpPr>
          <p:cNvPr id="35" name="Marcador de texto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7332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s-ES" noProof="0"/>
              <a:t>Haga clic para modificar los estilos del texto maestro</a:t>
            </a:r>
          </a:p>
        </p:txBody>
      </p:sp>
      <p:sp>
        <p:nvSpPr>
          <p:cNvPr id="36" name="Marcador de texto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s-ES" noProof="0"/>
              <a:t>Haga clic para modificar los estilos del texto maestro</a:t>
            </a:r>
          </a:p>
        </p:txBody>
      </p:sp>
      <p:sp>
        <p:nvSpPr>
          <p:cNvPr id="37" name="Marcador de texto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s-ES" noProof="0"/>
              <a:t>Haga clic para modificar los estilos del texto maestro</a:t>
            </a: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75279" y="6356350"/>
            <a:ext cx="1808712" cy="365125"/>
          </a:xfrm>
        </p:spPr>
        <p:txBody>
          <a:bodyPr rtlCol="0"/>
          <a:lstStyle>
            <a:lvl1pPr>
              <a:defRPr sz="900"/>
            </a:lvl1pPr>
          </a:lstStyle>
          <a:p>
            <a:pPr algn="l" rtl="0"/>
            <a:r>
              <a:rPr lang="es-ES" noProof="0"/>
              <a:t>Presentación de lanzamiento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a de contenido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MODIFICAR EL ESTILO DEL TÍTULO MAESTRO</a:t>
            </a:r>
          </a:p>
        </p:txBody>
      </p:sp>
      <p:sp>
        <p:nvSpPr>
          <p:cNvPr id="15" name="Marcador de texto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17" name="Marcador de texto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31" name="Marcador de texto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AGREGAR UN SUBTÍTULO</a:t>
            </a:r>
          </a:p>
        </p:txBody>
      </p:sp>
      <p:sp>
        <p:nvSpPr>
          <p:cNvPr id="32" name="Marcador de texto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33" name="Marcador de texto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AGREGAR UN SUBTÍTULO</a:t>
            </a:r>
          </a:p>
        </p:txBody>
      </p:sp>
      <p:sp>
        <p:nvSpPr>
          <p:cNvPr id="34" name="Marcador de texto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12" name="Marcador de texto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AGREGAR UN SUBTÍTULO</a:t>
            </a:r>
          </a:p>
        </p:txBody>
      </p:sp>
      <p:sp>
        <p:nvSpPr>
          <p:cNvPr id="13" name="Marcador de texto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es-ES" noProof="0"/>
              <a:t>20XX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a de contenido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MODIFICAR EL ESTILO DEL TÍTULO MAESTRO</a:t>
            </a:r>
          </a:p>
        </p:txBody>
      </p:sp>
      <p:sp>
        <p:nvSpPr>
          <p:cNvPr id="15" name="Marcador de texto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17" name="Marcador de texto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18" name="Marcador de texto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19" name="Marcador de texto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20" name="Marcador de texto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23" name="Marcador de texto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24" name="Marcador de texto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ció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Marcador de fecha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10" name="Marcador de pie de página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11" name="Marcador de número de diapositiva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lto de secció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DEL TÍTULO MAESTRO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Marcador de texto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12" name="Marcador de texto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13" name="Marcador de texto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14" name="Marcador de texto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15" name="Marcador de texto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16" name="Marcador de texto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17" name="Marcador de fecha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18" name="Marcador de pie de página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19" name="Marcador de número de diapositiva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 tr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 EL TEXTO MAESTRO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EDITAR EL TEXTO MAESTRO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Marcador de texto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 EL TEXTO MAESTRO</a:t>
            </a:r>
          </a:p>
        </p:txBody>
      </p:sp>
      <p:sp>
        <p:nvSpPr>
          <p:cNvPr id="22" name="Marcador de conteni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#</a:t>
            </a:r>
          </a:p>
        </p:txBody>
      </p: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#</a:t>
            </a:r>
          </a:p>
        </p:txBody>
      </p:sp>
      <p:sp>
        <p:nvSpPr>
          <p:cNvPr id="24" name="Marcador de texto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#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129698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5" name="Marcador de contenido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526261" y="4824188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6" name="Marcador de contenido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</p:txBody>
      </p:sp>
      <p:sp>
        <p:nvSpPr>
          <p:cNvPr id="22" name="Marcador de conteni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938210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7" name="Marcador de contenido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tenido do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 EL TEXTO MAESTRO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EDITAR EL TEXTO MAESTRO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adra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ítulo 1">
            <a:extLst>
              <a:ext uri="{FF2B5EF4-FFF2-40B4-BE49-F238E27FC236}">
                <a16:creationId xmlns:a16="http://schemas.microsoft.com/office/drawing/2014/main" id="{B495A4C6-232E-4A1A-B575-7EF7F414FD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 rtlCol="0">
            <a:normAutofit/>
          </a:bodyPr>
          <a:lstStyle>
            <a:lvl1pPr algn="l"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DD194B4E-75F4-47BE-B171-9C64697AB9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17" idx="1"/>
          </p:cNvCxnSpPr>
          <p:nvPr userDrawn="1"/>
        </p:nvCxnSpPr>
        <p:spPr>
          <a:xfrm>
            <a:off x="2315757" y="3774842"/>
            <a:ext cx="762469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FEFDA35F-76DF-4FDC-90C9-F9FEDF322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2091972"/>
            <a:ext cx="4678" cy="3376818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2B4C6F7E-40F0-42B1-AFE0-D3C95660E0D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42517" y="1599947"/>
            <a:ext cx="1706965" cy="492025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Haga clic para agregar un nombre</a:t>
            </a:r>
          </a:p>
        </p:txBody>
      </p:sp>
      <p:sp>
        <p:nvSpPr>
          <p:cNvPr id="18" name="Marcador de texto 14">
            <a:extLst>
              <a:ext uri="{FF2B5EF4-FFF2-40B4-BE49-F238E27FC236}">
                <a16:creationId xmlns:a16="http://schemas.microsoft.com/office/drawing/2014/main" id="{42EE46E3-709F-4AE9-AECE-FD647B6DCFD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38732" y="2378452"/>
            <a:ext cx="1183179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s-ES" noProof="0"/>
              <a:t>Haga clic para agregar un nombre</a:t>
            </a:r>
          </a:p>
        </p:txBody>
      </p:sp>
      <p:sp>
        <p:nvSpPr>
          <p:cNvPr id="26" name="Marcador de texto 14">
            <a:extLst>
              <a:ext uri="{FF2B5EF4-FFF2-40B4-BE49-F238E27FC236}">
                <a16:creationId xmlns:a16="http://schemas.microsoft.com/office/drawing/2014/main" id="{3194FB4F-01AC-4A0E-BBE2-CF2B69F6FAC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522269" y="2169263"/>
            <a:ext cx="1706965" cy="104857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 cap="all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s-ES" noProof="0"/>
              <a:t>Haga clic para agregar un nombre</a:t>
            </a:r>
          </a:p>
        </p:txBody>
      </p:sp>
      <p:sp>
        <p:nvSpPr>
          <p:cNvPr id="23" name="Marcador de texto 14">
            <a:extLst>
              <a:ext uri="{FF2B5EF4-FFF2-40B4-BE49-F238E27FC236}">
                <a16:creationId xmlns:a16="http://schemas.microsoft.com/office/drawing/2014/main" id="{8E76F955-6B23-4972-8E86-603F19ECF6C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21894" y="3528829"/>
            <a:ext cx="1393863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Haga clic para agregar un nombre</a:t>
            </a:r>
          </a:p>
        </p:txBody>
      </p:sp>
      <p:sp>
        <p:nvSpPr>
          <p:cNvPr id="17" name="Marcador de texto 14">
            <a:extLst>
              <a:ext uri="{FF2B5EF4-FFF2-40B4-BE49-F238E27FC236}">
                <a16:creationId xmlns:a16="http://schemas.microsoft.com/office/drawing/2014/main" id="{DDA77547-4FF4-4B15-96F1-DC9B00175B4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940449" y="3528829"/>
            <a:ext cx="1380681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Haga clic para agregar un nombre</a:t>
            </a:r>
          </a:p>
        </p:txBody>
      </p:sp>
      <p:sp>
        <p:nvSpPr>
          <p:cNvPr id="20" name="Marcador de texto 14">
            <a:extLst>
              <a:ext uri="{FF2B5EF4-FFF2-40B4-BE49-F238E27FC236}">
                <a16:creationId xmlns:a16="http://schemas.microsoft.com/office/drawing/2014/main" id="{6E6B6915-DFCC-44EB-9C61-6B7725D1B79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637747" y="4634331"/>
            <a:ext cx="1183179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s-ES" noProof="0"/>
              <a:t>Haga clic para agregar un nombre</a:t>
            </a:r>
          </a:p>
        </p:txBody>
      </p:sp>
      <p:sp>
        <p:nvSpPr>
          <p:cNvPr id="19" name="Marcador de texto 14">
            <a:extLst>
              <a:ext uri="{FF2B5EF4-FFF2-40B4-BE49-F238E27FC236}">
                <a16:creationId xmlns:a16="http://schemas.microsoft.com/office/drawing/2014/main" id="{6718CC56-7B04-41D0-A320-CCCDC20D761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75224" y="4459860"/>
            <a:ext cx="1183179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s-ES" noProof="0"/>
              <a:t>Haga clic para agregar un nombre</a:t>
            </a:r>
          </a:p>
        </p:txBody>
      </p:sp>
      <p:sp>
        <p:nvSpPr>
          <p:cNvPr id="21" name="Marcador de texto 14">
            <a:extLst>
              <a:ext uri="{FF2B5EF4-FFF2-40B4-BE49-F238E27FC236}">
                <a16:creationId xmlns:a16="http://schemas.microsoft.com/office/drawing/2014/main" id="{778E1C09-B7DB-4CE7-A5B9-90BCF54448B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52714" y="4321788"/>
            <a:ext cx="1183179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s-ES" noProof="0"/>
              <a:t>Haga clic para agregar un nombre</a:t>
            </a:r>
          </a:p>
        </p:txBody>
      </p:sp>
      <p:sp>
        <p:nvSpPr>
          <p:cNvPr id="16" name="Marcador de texto 14">
            <a:extLst>
              <a:ext uri="{FF2B5EF4-FFF2-40B4-BE49-F238E27FC236}">
                <a16:creationId xmlns:a16="http://schemas.microsoft.com/office/drawing/2014/main" id="{7CFA026C-42CE-4C20-9DDE-417FDF6CB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42517" y="5468790"/>
            <a:ext cx="1706965" cy="492025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Haga clic para agregar un nombre</a:t>
            </a:r>
          </a:p>
        </p:txBody>
      </p:sp>
      <p:sp>
        <p:nvSpPr>
          <p:cNvPr id="22" name="Marcador de texto 14">
            <a:extLst>
              <a:ext uri="{FF2B5EF4-FFF2-40B4-BE49-F238E27FC236}">
                <a16:creationId xmlns:a16="http://schemas.microsoft.com/office/drawing/2014/main" id="{0AFAA95F-1461-496C-BAB4-D5D0594554F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801857" y="5195673"/>
            <a:ext cx="1183179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s-ES" noProof="0"/>
              <a:t>Haga clic para agregar un nombre</a:t>
            </a:r>
          </a:p>
        </p:txBody>
      </p:sp>
      <p:sp>
        <p:nvSpPr>
          <p:cNvPr id="31" name="Marcador de fecha 2">
            <a:extLst>
              <a:ext uri="{FF2B5EF4-FFF2-40B4-BE49-F238E27FC236}">
                <a16:creationId xmlns:a16="http://schemas.microsoft.com/office/drawing/2014/main" id="{B8C04945-62C9-4964-8891-6D30EA90D2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32" name="Marcador de pie de página 3">
            <a:extLst>
              <a:ext uri="{FF2B5EF4-FFF2-40B4-BE49-F238E27FC236}">
                <a16:creationId xmlns:a16="http://schemas.microsoft.com/office/drawing/2014/main" id="{51029B8B-F669-4889-98DD-901661178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33" name="Marcador de número de diapositiva 4">
            <a:extLst>
              <a:ext uri="{FF2B5EF4-FFF2-40B4-BE49-F238E27FC236}">
                <a16:creationId xmlns:a16="http://schemas.microsoft.com/office/drawing/2014/main" id="{7A0B84D6-438D-4B3B-B52C-6F5EC159B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0262508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áfico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ítulo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MODIFICAR EL ESTILO DEL TÍTULO MAESTRO</a:t>
            </a:r>
          </a:p>
        </p:txBody>
      </p:sp>
      <p:sp>
        <p:nvSpPr>
          <p:cNvPr id="20" name="Marcador de texto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25" name="Marcador de texto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26" name="Marcador de texto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27" name="Marcador de texto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28" name="Marcador de texto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29" name="Marcador de texto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21" name="Marcador de fecha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22" name="Marcador de pie de página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24" name="Marcador de número de diapositiva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áfic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MODIFICAR EL ESTILO DEL TÍTULO MAESTRO</a:t>
            </a:r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B250D272-9B39-4C2D-B0F5-21010D11E43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48749" y="1361938"/>
            <a:ext cx="6765925" cy="496888"/>
          </a:xfrm>
        </p:spPr>
        <p:txBody>
          <a:bodyPr rtlCol="0"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" name="Marcador de posición de gráfico 6">
            <a:extLst>
              <a:ext uri="{FF2B5EF4-FFF2-40B4-BE49-F238E27FC236}">
                <a16:creationId xmlns:a16="http://schemas.microsoft.com/office/drawing/2014/main" id="{08AF2DB4-A973-4307-B59C-6058A138835C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838200" y="2286002"/>
            <a:ext cx="6094270" cy="3542143"/>
          </a:xfrm>
        </p:spPr>
        <p:txBody>
          <a:bodyPr rtlCol="0"/>
          <a:lstStyle/>
          <a:p>
            <a:pPr rtl="0"/>
            <a:r>
              <a:rPr lang="es-ES" noProof="0"/>
              <a:t>Haga clic en el icono para agregar un gráfico</a:t>
            </a:r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339C283A-EC40-421C-8A0E-F9A3161C889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58125" y="2284624"/>
            <a:ext cx="3147332" cy="306388"/>
          </a:xfrm>
        </p:spPr>
        <p:txBody>
          <a:bodyPr rtlCol="0">
            <a:noAutofit/>
          </a:bodyPr>
          <a:lstStyle>
            <a:lvl1pPr marL="0" indent="0">
              <a:buNone/>
              <a:defRPr sz="1400" cap="all" spc="15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13" name="Marcador de contenido 12">
            <a:extLst>
              <a:ext uri="{FF2B5EF4-FFF2-40B4-BE49-F238E27FC236}">
                <a16:creationId xmlns:a16="http://schemas.microsoft.com/office/drawing/2014/main" id="{305CA2B1-D510-4949-A638-C1A064DA41A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858125" y="2779713"/>
            <a:ext cx="3148013" cy="3095625"/>
          </a:xfrm>
        </p:spPr>
        <p:txBody>
          <a:bodyPr rtlCol="0">
            <a:normAutofit/>
          </a:bodyPr>
          <a:lstStyle>
            <a:lvl1pPr marL="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Haga clic para agregar contenido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4910030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onogram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7D46070C-E825-43D0-99F4-8B4614131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sp>
        <p:nvSpPr>
          <p:cNvPr id="6" name="Marcador de texto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Año</a:t>
            </a:r>
          </a:p>
        </p:txBody>
      </p:sp>
      <p:sp>
        <p:nvSpPr>
          <p:cNvPr id="7" name="Marcador de texto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8" name="Marcador de texto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9" name="Marcador de texto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10" name="Marcador de texto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12" name="Marcador de texto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13" name="Marcador de texto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14" name="Marcador de texto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16" name="Marcador de texto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17" name="Marcador de texto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15" name="Marcador de texto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18" name="Marcador de texto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19" name="Marcador de texto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Año</a:t>
            </a:r>
          </a:p>
        </p:txBody>
      </p:sp>
      <p:sp>
        <p:nvSpPr>
          <p:cNvPr id="20" name="Marcador de texto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21" name="Marcador de texto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22" name="Marcador de texto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23" name="Marcador de texto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24" name="Marcador de texto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25" name="Marcador de texto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26" name="Marcador de texto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28" name="Marcador de texto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29" name="Marcador de texto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27" name="Marcador de texto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30" name="Marcador de texto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31" name="Marcador de texto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FFA35437-CCDE-4D92-B879-F23B329C8E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Marcador de fecha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37" name="Marcador de pie de página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38" name="Marcador de número de diapositiva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MODIFICAR EL ESTILO DEL TÍTULO MAESTRO</a:t>
            </a:r>
          </a:p>
        </p:txBody>
      </p:sp>
      <p:sp>
        <p:nvSpPr>
          <p:cNvPr id="7" name="Marcador de posición de SmartArt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838200" y="2139084"/>
            <a:ext cx="10515600" cy="3695338"/>
          </a:xfrm>
        </p:spPr>
        <p:txBody>
          <a:bodyPr rtlCol="0"/>
          <a:lstStyle/>
          <a:p>
            <a:pPr rtl="0"/>
            <a:r>
              <a:rPr lang="es-ES" noProof="0"/>
              <a:t>Haga clic en el icono para agregar un elemento gráfico SmartArt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66988B2D-0240-4256-8268-4B9FF1E723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D8EEAAE1-3D04-41C3-B2D2-B3BEF34C3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equipo de 4 persona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MODIFICAR EL ESTILO DEL TÍTULO MAESTRO</a:t>
            </a:r>
          </a:p>
        </p:txBody>
      </p:sp>
      <p:sp>
        <p:nvSpPr>
          <p:cNvPr id="11" name="Marcador de posición de imagen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11558" y="5084524"/>
            <a:ext cx="2196619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6" name="Marcador de texto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17" name="Marcador de posición de imagen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707607" y="5099206"/>
            <a:ext cx="2145049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7" name="Marcador de texto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18" name="Marcador de posición de imagen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lvl="1" rtl="0"/>
            <a:r>
              <a:rPr lang="es-ES" noProof="0"/>
              <a:t>Haga clic en el icono para agregar una imagen</a:t>
            </a:r>
          </a:p>
        </p:txBody>
      </p:sp>
      <p:sp>
        <p:nvSpPr>
          <p:cNvPr id="24" name="Marcador de texto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98271" y="5099206"/>
            <a:ext cx="2132985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8" name="Marcador de texto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19" name="Marcador de posición de imagen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5" name="Marcador de texto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18152" y="5084524"/>
            <a:ext cx="2132984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9" name="Marcador de texto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equipo de 8 persona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MODIFICAR EL ESTILO DEL TÍTULO MAESTRO</a:t>
            </a:r>
          </a:p>
        </p:txBody>
      </p:sp>
      <p:sp>
        <p:nvSpPr>
          <p:cNvPr id="11" name="Marcador de posición de imagen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6" name="Marcador de texto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17" name="Marcador de posición de imagen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7" name="Marcador de texto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18" name="Marcador de posición de imagen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2pPr>
          </a:lstStyle>
          <a:p>
            <a:pPr lvl="0" rtl="0"/>
            <a:r>
              <a:rPr lang="es-ES" noProof="0"/>
              <a:t>Haga clic en el icono para agregar una imagen</a:t>
            </a:r>
          </a:p>
        </p:txBody>
      </p:sp>
      <p:sp>
        <p:nvSpPr>
          <p:cNvPr id="24" name="Marcador de texto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8" name="Marcador de texto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19" name="Marcador de posición de imagen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5" name="Marcador de texto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9" name="Marcador de texto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55" name="Marcador de posición de imagen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54" name="Marcador de texto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62" name="Marcador de texto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56" name="Marcador de posición de imagen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59" name="Marcador de texto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63" name="Marcador de texto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57" name="Marcador de posición de imagen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2pPr>
          </a:lstStyle>
          <a:p>
            <a:pPr lvl="0" rtl="0"/>
            <a:r>
              <a:rPr lang="es-ES" noProof="0"/>
              <a:t>Haga clic en el icono para agregar una imagen</a:t>
            </a:r>
          </a:p>
        </p:txBody>
      </p:sp>
      <p:sp>
        <p:nvSpPr>
          <p:cNvPr id="60" name="Marcador de texto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64" name="Marcador de texto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58" name="Marcador de posición de imagen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61" name="Marcador de texto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65" name="Marcador de texto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ncia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MODIFICAR EL ESTILO DEL TÍTULO MAESTRO</a:t>
            </a:r>
          </a:p>
        </p:txBody>
      </p:sp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319EE98D-9541-4F21-8952-3026DEF75EC4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118642"/>
            <a:ext cx="1856232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Haga clic para agregar contenido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#</a:t>
            </a:r>
          </a:p>
        </p:txBody>
      </p:sp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4" name="Marcador de contenido 10">
            <a:extLst>
              <a:ext uri="{FF2B5EF4-FFF2-40B4-BE49-F238E27FC236}">
                <a16:creationId xmlns:a16="http://schemas.microsoft.com/office/drawing/2014/main" id="{AB843230-A4E3-4E21-AA93-998E28EB901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11391" y="2118642"/>
            <a:ext cx="1856232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Haga clic para agregar contenido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#</a:t>
            </a:r>
          </a:p>
        </p:txBody>
      </p:sp>
      <p:sp>
        <p:nvSpPr>
          <p:cNvPr id="18" name="Marcador de texto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EDITAR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5" name="Marcador de contenido 10">
            <a:extLst>
              <a:ext uri="{FF2B5EF4-FFF2-40B4-BE49-F238E27FC236}">
                <a16:creationId xmlns:a16="http://schemas.microsoft.com/office/drawing/2014/main" id="{3AE0369E-A275-4E5A-AE0F-B1F9A54DEDFC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24377" y="2118642"/>
            <a:ext cx="1856232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Haga clic para agregar contenido</a:t>
            </a:r>
          </a:p>
        </p:txBody>
      </p:sp>
      <p:sp>
        <p:nvSpPr>
          <p:cNvPr id="21" name="Marcador de texto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#</a:t>
            </a:r>
          </a:p>
        </p:txBody>
      </p:sp>
      <p:sp>
        <p:nvSpPr>
          <p:cNvPr id="19" name="Marcador de texto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2" name="Marcador de conteni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6" name="Marcador de contenido 10">
            <a:extLst>
              <a:ext uri="{FF2B5EF4-FFF2-40B4-BE49-F238E27FC236}">
                <a16:creationId xmlns:a16="http://schemas.microsoft.com/office/drawing/2014/main" id="{CCA3A81E-171B-4946-B8BA-B2F406CF093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118642"/>
            <a:ext cx="1856232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s-ES" noProof="0"/>
              <a:t>Haga clic para agregar contenido</a:t>
            </a:r>
          </a:p>
        </p:txBody>
      </p:sp>
      <p:sp>
        <p:nvSpPr>
          <p:cNvPr id="14" name="Marcador de texto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#</a:t>
            </a:r>
          </a:p>
        </p:txBody>
      </p: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15" name="Marcador de contenido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Resu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Marcador de fecha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22" name="Marcador de pie de página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24" name="Marcador de número de diapositiva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ier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Marcador de fecha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10" name="Marcador de pie de página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11" name="Marcador de número de diapositiva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s-ES" noProof="0"/>
              <a:t>Presentación de lanzamiento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685" r:id="rId12"/>
    <p:sldLayoutId id="2147483700" r:id="rId13"/>
    <p:sldLayoutId id="2147483679" r:id="rId14"/>
    <p:sldLayoutId id="2147483692" r:id="rId15"/>
    <p:sldLayoutId id="2147483681" r:id="rId16"/>
    <p:sldLayoutId id="2147483674" r:id="rId17"/>
    <p:sldLayoutId id="2147483675" r:id="rId18"/>
    <p:sldLayoutId id="2147483696" r:id="rId19"/>
    <p:sldLayoutId id="2147483677" r:id="rId20"/>
    <p:sldLayoutId id="2147483678" r:id="rId2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0.jpeg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jpg"/><Relationship Id="rId3" Type="http://schemas.openxmlformats.org/officeDocument/2006/relationships/image" Target="../media/image31.jpg"/><Relationship Id="rId7" Type="http://schemas.openxmlformats.org/officeDocument/2006/relationships/image" Target="../media/image35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4.jpg"/><Relationship Id="rId5" Type="http://schemas.openxmlformats.org/officeDocument/2006/relationships/image" Target="../media/image33.jpg"/><Relationship Id="rId10" Type="http://schemas.openxmlformats.org/officeDocument/2006/relationships/image" Target="../media/image38.jpg"/><Relationship Id="rId4" Type="http://schemas.openxmlformats.org/officeDocument/2006/relationships/image" Target="../media/image32.jpg"/><Relationship Id="rId9" Type="http://schemas.openxmlformats.org/officeDocument/2006/relationships/image" Target="../media/image37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9.xml"/><Relationship Id="rId6" Type="http://schemas.openxmlformats.org/officeDocument/2006/relationships/chart" Target="../charts/chart5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16040" y="4434840"/>
            <a:ext cx="4941771" cy="1122202"/>
          </a:xfrm>
        </p:spPr>
        <p:txBody>
          <a:bodyPr rtlCol="0"/>
          <a:lstStyle/>
          <a:p>
            <a:pPr rtl="0"/>
            <a:br>
              <a:rPr lang="es-ES" dirty="0"/>
            </a:br>
            <a:r>
              <a:rPr lang="es-ES" dirty="0"/>
              <a:t>Sistema de gestión de proyectos Scrum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844188"/>
          </a:xfrm>
        </p:spPr>
        <p:txBody>
          <a:bodyPr rtlCol="0">
            <a:normAutofit fontScale="77500" lnSpcReduction="20000"/>
          </a:bodyPr>
          <a:lstStyle/>
          <a:p>
            <a:pPr rtl="0"/>
            <a:r>
              <a:rPr lang="es-ES" b="1" dirty="0"/>
              <a:t>Autor</a:t>
            </a:r>
            <a:r>
              <a:rPr lang="es-ES" dirty="0"/>
              <a:t>:	Luis Javier Curbeira García</a:t>
            </a:r>
          </a:p>
          <a:p>
            <a:pPr rtl="0"/>
            <a:r>
              <a:rPr lang="es-ES" b="1" dirty="0"/>
              <a:t>Consultor</a:t>
            </a:r>
            <a:r>
              <a:rPr lang="es-ES" dirty="0"/>
              <a:t>:	Gregorio Robles Martínez</a:t>
            </a:r>
          </a:p>
          <a:p>
            <a:pPr rtl="0"/>
            <a:r>
              <a:rPr lang="es-ES" b="1" dirty="0"/>
              <a:t>PRA</a:t>
            </a:r>
            <a:r>
              <a:rPr lang="es-ES" dirty="0"/>
              <a:t>:	Santi </a:t>
            </a:r>
            <a:r>
              <a:rPr lang="es-ES" dirty="0" err="1"/>
              <a:t>Caballe</a:t>
            </a:r>
            <a:r>
              <a:rPr lang="es-ES" dirty="0"/>
              <a:t> Llobet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>
            <a:extLst>
              <a:ext uri="{FF2B5EF4-FFF2-40B4-BE49-F238E27FC236}">
                <a16:creationId xmlns:a16="http://schemas.microsoft.com/office/drawing/2014/main" id="{31750A26-FBBE-6E87-0E13-49966F4DB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/>
          <a:p>
            <a:r>
              <a:rPr lang="en-US" dirty="0" err="1"/>
              <a:t>motivación</a:t>
            </a:r>
            <a:endParaRPr lang="en-US" dirty="0"/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EFF24F11-5100-6C33-F710-D1C8424206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25200" y="3316466"/>
            <a:ext cx="5433204" cy="50614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- </a:t>
            </a:r>
            <a:r>
              <a:rPr lang="en-US" sz="1800" dirty="0"/>
              <a:t>ESCASA </a:t>
            </a:r>
            <a:r>
              <a:rPr lang="en-US" sz="1900" dirty="0"/>
              <a:t>VARIEDAD</a:t>
            </a:r>
            <a:r>
              <a:rPr lang="en-US" sz="1800" dirty="0"/>
              <a:t> DE </a:t>
            </a:r>
            <a:r>
              <a:rPr lang="en-US" sz="1800" dirty="0" err="1"/>
              <a:t>Soluciones</a:t>
            </a:r>
            <a:r>
              <a:rPr lang="en-US" sz="1800" dirty="0"/>
              <a:t> </a:t>
            </a:r>
            <a:r>
              <a:rPr lang="en-US" sz="1800" dirty="0" err="1"/>
              <a:t>existentes</a:t>
            </a:r>
            <a:r>
              <a:rPr lang="en-US" sz="1800" dirty="0"/>
              <a:t> Y OPEN SOURCE</a:t>
            </a:r>
            <a:endParaRPr lang="en-U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88B3F5A-3CD2-4801-B71B-FED5479EAE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r>
              <a:rPr lang="es-ES" noProof="0"/>
              <a:t>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F32788B-A806-4BB7-A791-1F660C0B8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r>
              <a:rPr lang="es-ES" noProof="0"/>
              <a:t>Presentación de lanzamiento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E7A960-45FC-4772-9DEE-8893B9A1A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B5CEABB6-07DC-46E8-9B57-56EC44A396E5}" type="slidenum">
              <a:rPr lang="es-ES" noProof="0" smtClean="0"/>
              <a:pPr rtl="0">
                <a:spcAft>
                  <a:spcPts val="600"/>
                </a:spcAft>
              </a:pPr>
              <a:t>2</a:t>
            </a:fld>
            <a:endParaRPr lang="es-ES" noProof="0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63D2ACB-985E-408E-A6F1-2F7DC63E6EC7}"/>
              </a:ext>
            </a:extLst>
          </p:cNvPr>
          <p:cNvSpPr txBox="1">
            <a:spLocks/>
          </p:cNvSpPr>
          <p:nvPr/>
        </p:nvSpPr>
        <p:spPr>
          <a:xfrm>
            <a:off x="6074654" y="2480897"/>
            <a:ext cx="5431970" cy="50614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- </a:t>
            </a:r>
            <a:r>
              <a:rPr lang="es-ES" sz="1900" dirty="0"/>
              <a:t>Relevancia</a:t>
            </a:r>
            <a:r>
              <a:rPr lang="es-ES" dirty="0"/>
              <a:t> SCRUM EN LA INDUSTRIA DEL SOFTWARE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E824713D-1D9C-49F3-8713-560B04AB4A33}"/>
              </a:ext>
            </a:extLst>
          </p:cNvPr>
          <p:cNvSpPr txBox="1">
            <a:spLocks/>
          </p:cNvSpPr>
          <p:nvPr/>
        </p:nvSpPr>
        <p:spPr>
          <a:xfrm>
            <a:off x="6025200" y="4152034"/>
            <a:ext cx="5433204" cy="5061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- </a:t>
            </a:r>
            <a:r>
              <a:rPr lang="es-ES" sz="1800" dirty="0"/>
              <a:t>Formación</a:t>
            </a:r>
            <a:r>
              <a:rPr lang="es-ES" sz="1600" dirty="0"/>
              <a:t> en </a:t>
            </a:r>
            <a:r>
              <a:rPr lang="es-ES" sz="1600" dirty="0" err="1"/>
              <a:t>tecnogias</a:t>
            </a:r>
            <a:r>
              <a:rPr lang="es-ES" sz="1600" dirty="0"/>
              <a:t> web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60531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684294-49A0-4C63-A7D7-E3BF9E591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rtlCol="0"/>
          <a:lstStyle/>
          <a:p>
            <a:pPr rtl="0"/>
            <a:r>
              <a:rPr lang="es-ES" dirty="0"/>
              <a:t>PLANIFICACIÓN </a:t>
            </a:r>
            <a:r>
              <a:rPr lang="es-ES" dirty="0" err="1"/>
              <a:t>tEMPORAL</a:t>
            </a:r>
            <a:endParaRPr lang="es-ES" dirty="0"/>
          </a:p>
        </p:txBody>
      </p:sp>
      <p:sp>
        <p:nvSpPr>
          <p:cNvPr id="110" name="Marcador de texto 31">
            <a:extLst>
              <a:ext uri="{FF2B5EF4-FFF2-40B4-BE49-F238E27FC236}">
                <a16:creationId xmlns:a16="http://schemas.microsoft.com/office/drawing/2014/main" id="{2FF506C9-7C92-4B9C-A356-9B519D03C78D}"/>
              </a:ext>
            </a:extLst>
          </p:cNvPr>
          <p:cNvSpPr txBox="1">
            <a:spLocks/>
          </p:cNvSpPr>
          <p:nvPr/>
        </p:nvSpPr>
        <p:spPr>
          <a:xfrm>
            <a:off x="3581400" y="2288447"/>
            <a:ext cx="2057400" cy="5619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s-ES" sz="1400" spc="150" dirty="0">
                <a:latin typeface="+mj-lt"/>
                <a:ea typeface="+mj-ea"/>
                <a:cs typeface="+mj-cs"/>
              </a:rPr>
              <a:t>ANÁLISIS</a:t>
            </a:r>
            <a:endParaRPr lang="es-ES" sz="1100" dirty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A6861FF3-B902-4DEC-B46D-0F2E499C51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914399" y="3354712"/>
            <a:ext cx="731520" cy="457200"/>
          </a:xfrm>
        </p:spPr>
        <p:txBody>
          <a:bodyPr rtlCol="0">
            <a:normAutofit/>
          </a:bodyPr>
          <a:lstStyle/>
          <a:p>
            <a:pPr rtl="0"/>
            <a:r>
              <a:rPr lang="es-ES" dirty="0"/>
              <a:t>2022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05941AA2-C85B-41A7-9264-A0C66F32930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965960" y="3502152"/>
            <a:ext cx="640080" cy="201776"/>
          </a:xfrm>
        </p:spPr>
        <p:txBody>
          <a:bodyPr rtlCol="0">
            <a:normAutofit fontScale="85000" lnSpcReduction="20000"/>
          </a:bodyPr>
          <a:lstStyle/>
          <a:p>
            <a:pPr rtl="0"/>
            <a:r>
              <a:rPr lang="es-ES"/>
              <a:t>ENE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2C4BD3D3-C7A9-46F1-8ED8-AB8D1BB8926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2753880" y="3502152"/>
            <a:ext cx="640080" cy="201776"/>
          </a:xfrm>
        </p:spPr>
        <p:txBody>
          <a:bodyPr rtlCol="0">
            <a:normAutofit fontScale="85000" lnSpcReduction="20000"/>
          </a:bodyPr>
          <a:lstStyle/>
          <a:p>
            <a:pPr rtl="0"/>
            <a:r>
              <a:rPr lang="es-ES"/>
              <a:t>FEB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873EDDDB-6509-4407-BA35-232AAF9F198D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3541800" y="3502152"/>
            <a:ext cx="640080" cy="201776"/>
          </a:xfrm>
        </p:spPr>
        <p:txBody>
          <a:bodyPr rtlCol="0">
            <a:normAutofit fontScale="85000" lnSpcReduction="20000"/>
          </a:bodyPr>
          <a:lstStyle/>
          <a:p>
            <a:pPr rtl="0"/>
            <a:r>
              <a:rPr lang="es-ES"/>
              <a:t>MAR</a:t>
            </a:r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A33A061F-AC2A-4E3F-B448-DC6FEC307A5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4329720" y="3502152"/>
            <a:ext cx="640080" cy="201776"/>
          </a:xfrm>
        </p:spPr>
        <p:txBody>
          <a:bodyPr rtlCol="0">
            <a:normAutofit fontScale="85000" lnSpcReduction="20000"/>
          </a:bodyPr>
          <a:lstStyle/>
          <a:p>
            <a:pPr rtl="0"/>
            <a:r>
              <a:rPr lang="es-ES"/>
              <a:t>ABR</a:t>
            </a:r>
          </a:p>
        </p:txBody>
      </p: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FAC81818-8260-4E49-9FCC-569FDE30B0B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117640" y="3502152"/>
            <a:ext cx="640080" cy="201776"/>
          </a:xfrm>
        </p:spPr>
        <p:txBody>
          <a:bodyPr rtlCol="0">
            <a:normAutofit fontScale="85000" lnSpcReduction="20000"/>
          </a:bodyPr>
          <a:lstStyle/>
          <a:p>
            <a:pPr rtl="0"/>
            <a:r>
              <a:rPr lang="es-ES"/>
              <a:t>MAYO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D1FD068B-6917-4C40-B40D-5F7B670EA7B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905560" y="3502152"/>
            <a:ext cx="640080" cy="201776"/>
          </a:xfrm>
        </p:spPr>
        <p:txBody>
          <a:bodyPr rtlCol="0">
            <a:normAutofit fontScale="85000" lnSpcReduction="20000"/>
          </a:bodyPr>
          <a:lstStyle/>
          <a:p>
            <a:pPr rtl="0"/>
            <a:r>
              <a:rPr lang="es-ES"/>
              <a:t>JUN</a:t>
            </a:r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EEAE71AD-30AF-4021-B577-B686EC6DA329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693480" y="3502152"/>
            <a:ext cx="640080" cy="201776"/>
          </a:xfrm>
        </p:spPr>
        <p:txBody>
          <a:bodyPr rtlCol="0">
            <a:normAutofit fontScale="85000" lnSpcReduction="20000"/>
          </a:bodyPr>
          <a:lstStyle/>
          <a:p>
            <a:pPr rtl="0"/>
            <a:r>
              <a:rPr lang="es-ES"/>
              <a:t>JUL</a:t>
            </a:r>
          </a:p>
        </p:txBody>
      </p: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D8E5FFBE-125E-43C8-A66E-DE8D2FE7AF38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481400" y="3502152"/>
            <a:ext cx="640080" cy="201776"/>
          </a:xfrm>
        </p:spPr>
        <p:txBody>
          <a:bodyPr rtlCol="0">
            <a:normAutofit fontScale="85000" lnSpcReduction="20000"/>
          </a:bodyPr>
          <a:lstStyle/>
          <a:p>
            <a:pPr rtl="0"/>
            <a:r>
              <a:rPr lang="es-ES"/>
              <a:t>AGO</a:t>
            </a:r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7209F81D-5EC6-4D97-B0C2-AC00081AB1A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269320" y="3502152"/>
            <a:ext cx="640080" cy="201776"/>
          </a:xfrm>
        </p:spPr>
        <p:txBody>
          <a:bodyPr rtlCol="0">
            <a:normAutofit fontScale="85000" lnSpcReduction="20000"/>
          </a:bodyPr>
          <a:lstStyle/>
          <a:p>
            <a:pPr rtl="0"/>
            <a:r>
              <a:rPr lang="es-ES"/>
              <a:t>SEP</a:t>
            </a:r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4A477EE3-A17C-4158-91E8-03A401BE96CB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057240" y="3502152"/>
            <a:ext cx="640080" cy="201776"/>
          </a:xfrm>
        </p:spPr>
        <p:txBody>
          <a:bodyPr rtlCol="0">
            <a:normAutofit fontScale="85000" lnSpcReduction="20000"/>
          </a:bodyPr>
          <a:lstStyle/>
          <a:p>
            <a:pPr rtl="0"/>
            <a:r>
              <a:rPr lang="es-ES"/>
              <a:t>OCT</a:t>
            </a:r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C477818B-3CAB-4A39-939D-99E98D2EE68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845160" y="3502152"/>
            <a:ext cx="640080" cy="201776"/>
          </a:xfrm>
        </p:spPr>
        <p:txBody>
          <a:bodyPr rtlCol="0">
            <a:normAutofit fontScale="85000" lnSpcReduction="20000"/>
          </a:bodyPr>
          <a:lstStyle/>
          <a:p>
            <a:pPr rtl="0"/>
            <a:r>
              <a:rPr lang="es-ES"/>
              <a:t>NOV</a:t>
            </a:r>
          </a:p>
        </p:txBody>
      </p:sp>
      <p:sp>
        <p:nvSpPr>
          <p:cNvPr id="19" name="Marcador de texto 18">
            <a:extLst>
              <a:ext uri="{FF2B5EF4-FFF2-40B4-BE49-F238E27FC236}">
                <a16:creationId xmlns:a16="http://schemas.microsoft.com/office/drawing/2014/main" id="{A7907FC8-DAAF-4896-A2B1-C173BF2FAE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633085" y="3502152"/>
            <a:ext cx="640080" cy="201776"/>
          </a:xfrm>
        </p:spPr>
        <p:txBody>
          <a:bodyPr rtlCol="0">
            <a:normAutofit fontScale="85000" lnSpcReduction="20000"/>
          </a:bodyPr>
          <a:lstStyle/>
          <a:p>
            <a:pPr rtl="0"/>
            <a:r>
              <a:rPr lang="es-ES"/>
              <a:t>DIC</a:t>
            </a:r>
          </a:p>
        </p:txBody>
      </p:sp>
      <p:sp>
        <p:nvSpPr>
          <p:cNvPr id="20" name="Marcador de texto 19">
            <a:extLst>
              <a:ext uri="{FF2B5EF4-FFF2-40B4-BE49-F238E27FC236}">
                <a16:creationId xmlns:a16="http://schemas.microsoft.com/office/drawing/2014/main" id="{FEC65619-A68A-4D21-9D17-40F8692EF196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69915" y="4425696"/>
            <a:ext cx="640080" cy="201776"/>
          </a:xfrm>
        </p:spPr>
        <p:txBody>
          <a:bodyPr rtlCol="0">
            <a:normAutofit fontScale="85000" lnSpcReduction="20000"/>
          </a:bodyPr>
          <a:lstStyle/>
          <a:p>
            <a:pPr rtl="0"/>
            <a:r>
              <a:rPr lang="es-ES"/>
              <a:t>ENE</a:t>
            </a:r>
          </a:p>
        </p:txBody>
      </p:sp>
      <p:sp>
        <p:nvSpPr>
          <p:cNvPr id="21" name="Marcador de texto 20">
            <a:extLst>
              <a:ext uri="{FF2B5EF4-FFF2-40B4-BE49-F238E27FC236}">
                <a16:creationId xmlns:a16="http://schemas.microsoft.com/office/drawing/2014/main" id="{D9C4CCA5-A2BE-4897-994D-9B1669D69FD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757602" y="4425696"/>
            <a:ext cx="640080" cy="201776"/>
          </a:xfrm>
        </p:spPr>
        <p:txBody>
          <a:bodyPr rtlCol="0">
            <a:normAutofit fontScale="85000" lnSpcReduction="20000"/>
          </a:bodyPr>
          <a:lstStyle/>
          <a:p>
            <a:pPr rtl="0"/>
            <a:r>
              <a:rPr lang="es-ES"/>
              <a:t>FEB</a:t>
            </a:r>
          </a:p>
        </p:txBody>
      </p:sp>
      <p:sp>
        <p:nvSpPr>
          <p:cNvPr id="22" name="Marcador de texto 21">
            <a:extLst>
              <a:ext uri="{FF2B5EF4-FFF2-40B4-BE49-F238E27FC236}">
                <a16:creationId xmlns:a16="http://schemas.microsoft.com/office/drawing/2014/main" id="{0C5FD452-DC3E-4D62-B19B-0A79E604A8A8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3486232" y="4389570"/>
            <a:ext cx="722032" cy="284362"/>
          </a:xfrm>
        </p:spPr>
        <p:txBody>
          <a:bodyPr rtlCol="0">
            <a:normAutofit/>
          </a:bodyPr>
          <a:lstStyle/>
          <a:p>
            <a:pPr rtl="0"/>
            <a:r>
              <a:rPr lang="es-ES" dirty="0"/>
              <a:t>MAR</a:t>
            </a:r>
          </a:p>
        </p:txBody>
      </p:sp>
      <p:sp>
        <p:nvSpPr>
          <p:cNvPr id="23" name="Marcador de texto 22">
            <a:extLst>
              <a:ext uri="{FF2B5EF4-FFF2-40B4-BE49-F238E27FC236}">
                <a16:creationId xmlns:a16="http://schemas.microsoft.com/office/drawing/2014/main" id="{96D290B2-F312-4D9A-96C7-D40523406AC5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332976" y="4425696"/>
            <a:ext cx="640080" cy="201776"/>
          </a:xfrm>
        </p:spPr>
        <p:txBody>
          <a:bodyPr rtlCol="0">
            <a:normAutofit fontScale="85000" lnSpcReduction="20000"/>
          </a:bodyPr>
          <a:lstStyle/>
          <a:p>
            <a:pPr rtl="0"/>
            <a:r>
              <a:rPr lang="es-ES"/>
              <a:t>ABR</a:t>
            </a:r>
          </a:p>
        </p:txBody>
      </p:sp>
      <p:sp>
        <p:nvSpPr>
          <p:cNvPr id="24" name="Marcador de texto 23">
            <a:extLst>
              <a:ext uri="{FF2B5EF4-FFF2-40B4-BE49-F238E27FC236}">
                <a16:creationId xmlns:a16="http://schemas.microsoft.com/office/drawing/2014/main" id="{80E52477-0BA9-471B-B2C2-F1A03FCF188F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120663" y="4425696"/>
            <a:ext cx="640080" cy="201776"/>
          </a:xfrm>
        </p:spPr>
        <p:txBody>
          <a:bodyPr rtlCol="0">
            <a:normAutofit fontScale="85000" lnSpcReduction="20000"/>
          </a:bodyPr>
          <a:lstStyle/>
          <a:p>
            <a:pPr rtl="0"/>
            <a:r>
              <a:rPr lang="es-ES" dirty="0"/>
              <a:t>MAYO</a:t>
            </a:r>
          </a:p>
        </p:txBody>
      </p:sp>
      <p:sp>
        <p:nvSpPr>
          <p:cNvPr id="25" name="Marcador de texto 24">
            <a:extLst>
              <a:ext uri="{FF2B5EF4-FFF2-40B4-BE49-F238E27FC236}">
                <a16:creationId xmlns:a16="http://schemas.microsoft.com/office/drawing/2014/main" id="{70D1D022-03FA-47E6-8430-252C6D5B4C4E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908350" y="4425696"/>
            <a:ext cx="640080" cy="201776"/>
          </a:xfrm>
        </p:spPr>
        <p:txBody>
          <a:bodyPr rtlCol="0">
            <a:normAutofit fontScale="85000" lnSpcReduction="20000"/>
          </a:bodyPr>
          <a:lstStyle/>
          <a:p>
            <a:pPr rtl="0"/>
            <a:r>
              <a:rPr lang="es-ES" dirty="0"/>
              <a:t>JUN</a:t>
            </a:r>
          </a:p>
        </p:txBody>
      </p:sp>
      <p:sp>
        <p:nvSpPr>
          <p:cNvPr id="26" name="Marcador de texto 25">
            <a:extLst>
              <a:ext uri="{FF2B5EF4-FFF2-40B4-BE49-F238E27FC236}">
                <a16:creationId xmlns:a16="http://schemas.microsoft.com/office/drawing/2014/main" id="{FA7483FC-7290-41B1-B371-ECA1174519DE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6683216" y="4425696"/>
            <a:ext cx="640080" cy="201776"/>
          </a:xfrm>
        </p:spPr>
        <p:txBody>
          <a:bodyPr rtlCol="0">
            <a:normAutofit fontScale="85000" lnSpcReduction="20000"/>
          </a:bodyPr>
          <a:lstStyle/>
          <a:p>
            <a:pPr rtl="0"/>
            <a:r>
              <a:rPr lang="es-ES"/>
              <a:t>JUL</a:t>
            </a:r>
          </a:p>
        </p:txBody>
      </p:sp>
      <p:sp>
        <p:nvSpPr>
          <p:cNvPr id="28" name="Marcador de texto 27">
            <a:extLst>
              <a:ext uri="{FF2B5EF4-FFF2-40B4-BE49-F238E27FC236}">
                <a16:creationId xmlns:a16="http://schemas.microsoft.com/office/drawing/2014/main" id="{D149E385-DCE9-4DC9-8F0A-F8BAF02D9797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7483724" y="4425696"/>
            <a:ext cx="640080" cy="201776"/>
          </a:xfrm>
        </p:spPr>
        <p:txBody>
          <a:bodyPr rtlCol="0">
            <a:normAutofit fontScale="85000" lnSpcReduction="20000"/>
          </a:bodyPr>
          <a:lstStyle/>
          <a:p>
            <a:pPr rtl="0"/>
            <a:r>
              <a:rPr lang="es-ES"/>
              <a:t>AGO</a:t>
            </a:r>
          </a:p>
        </p:txBody>
      </p:sp>
      <p:sp>
        <p:nvSpPr>
          <p:cNvPr id="29" name="Marcador de texto 28">
            <a:extLst>
              <a:ext uri="{FF2B5EF4-FFF2-40B4-BE49-F238E27FC236}">
                <a16:creationId xmlns:a16="http://schemas.microsoft.com/office/drawing/2014/main" id="{B7A506EE-32D5-4685-97A6-8FDFEF238C43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8271411" y="4425696"/>
            <a:ext cx="640080" cy="201776"/>
          </a:xfrm>
        </p:spPr>
        <p:txBody>
          <a:bodyPr rtlCol="0">
            <a:normAutofit fontScale="85000" lnSpcReduction="20000"/>
          </a:bodyPr>
          <a:lstStyle/>
          <a:p>
            <a:pPr rtl="0"/>
            <a:r>
              <a:rPr lang="es-ES"/>
              <a:t>SEP</a:t>
            </a:r>
          </a:p>
        </p:txBody>
      </p:sp>
      <p:sp>
        <p:nvSpPr>
          <p:cNvPr id="27" name="Marcador de texto 26">
            <a:extLst>
              <a:ext uri="{FF2B5EF4-FFF2-40B4-BE49-F238E27FC236}">
                <a16:creationId xmlns:a16="http://schemas.microsoft.com/office/drawing/2014/main" id="{1787EDAC-5EAB-4A0D-9BD2-D6E9FD0B26A1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9059098" y="4425696"/>
            <a:ext cx="640080" cy="201776"/>
          </a:xfrm>
        </p:spPr>
        <p:txBody>
          <a:bodyPr rtlCol="0">
            <a:normAutofit fontScale="85000" lnSpcReduction="20000"/>
          </a:bodyPr>
          <a:lstStyle/>
          <a:p>
            <a:pPr rtl="0"/>
            <a:r>
              <a:rPr lang="es-ES"/>
              <a:t>OCT</a:t>
            </a:r>
          </a:p>
        </p:txBody>
      </p:sp>
      <p:sp>
        <p:nvSpPr>
          <p:cNvPr id="30" name="Marcador de texto 29">
            <a:extLst>
              <a:ext uri="{FF2B5EF4-FFF2-40B4-BE49-F238E27FC236}">
                <a16:creationId xmlns:a16="http://schemas.microsoft.com/office/drawing/2014/main" id="{E80CB353-63CA-4305-9748-807B6905DBFF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9846785" y="4425696"/>
            <a:ext cx="640080" cy="201776"/>
          </a:xfrm>
        </p:spPr>
        <p:txBody>
          <a:bodyPr rtlCol="0">
            <a:normAutofit fontScale="85000" lnSpcReduction="20000"/>
          </a:bodyPr>
          <a:lstStyle/>
          <a:p>
            <a:pPr rtl="0"/>
            <a:r>
              <a:rPr lang="es-ES"/>
              <a:t>NOV</a:t>
            </a:r>
          </a:p>
        </p:txBody>
      </p:sp>
      <p:sp>
        <p:nvSpPr>
          <p:cNvPr id="31" name="Marcador de texto 30">
            <a:extLst>
              <a:ext uri="{FF2B5EF4-FFF2-40B4-BE49-F238E27FC236}">
                <a16:creationId xmlns:a16="http://schemas.microsoft.com/office/drawing/2014/main" id="{1B52C010-5159-4F61-821F-E73647E7C066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10634472" y="4425696"/>
            <a:ext cx="640080" cy="201776"/>
          </a:xfrm>
        </p:spPr>
        <p:txBody>
          <a:bodyPr rtlCol="0">
            <a:normAutofit fontScale="85000" lnSpcReduction="20000"/>
          </a:bodyPr>
          <a:lstStyle/>
          <a:p>
            <a:pPr rtl="0"/>
            <a:r>
              <a:rPr lang="es-ES"/>
              <a:t>DIC</a:t>
            </a:r>
          </a:p>
        </p:txBody>
      </p: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7AAE5EC1-092E-4A01-B866-C63F654AC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33" idx="0"/>
          </p:cNvCxnSpPr>
          <p:nvPr/>
        </p:nvCxnSpPr>
        <p:spPr>
          <a:xfrm>
            <a:off x="4646810" y="2919199"/>
            <a:ext cx="3722" cy="53340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52">
            <a:extLst>
              <a:ext uri="{FF2B5EF4-FFF2-40B4-BE49-F238E27FC236}">
                <a16:creationId xmlns:a16="http://schemas.microsoft.com/office/drawing/2014/main" id="{044DC497-37D3-454C-98C5-A4A1043E55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34" idx="0"/>
          </p:cNvCxnSpPr>
          <p:nvPr/>
        </p:nvCxnSpPr>
        <p:spPr>
          <a:xfrm>
            <a:off x="6218933" y="2901831"/>
            <a:ext cx="6667" cy="538024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ángulo 32">
            <a:extLst>
              <a:ext uri="{FF2B5EF4-FFF2-40B4-BE49-F238E27FC236}">
                <a16:creationId xmlns:a16="http://schemas.microsoft.com/office/drawing/2014/main" id="{3FBB4508-2CA6-4A49-9EAD-91DB1B205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87069" y="3452599"/>
            <a:ext cx="526925" cy="27492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88989049-2208-43EB-A323-1B5374E0A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62137" y="3439855"/>
            <a:ext cx="526925" cy="27492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/>
          </a:p>
        </p:txBody>
      </p:sp>
      <p:sp>
        <p:nvSpPr>
          <p:cNvPr id="56" name="Marcador de texto 31">
            <a:extLst>
              <a:ext uri="{FF2B5EF4-FFF2-40B4-BE49-F238E27FC236}">
                <a16:creationId xmlns:a16="http://schemas.microsoft.com/office/drawing/2014/main" id="{6E8FAB27-F000-4DFF-8595-B8ADBB6058E9}"/>
              </a:ext>
            </a:extLst>
          </p:cNvPr>
          <p:cNvSpPr txBox="1">
            <a:spLocks/>
          </p:cNvSpPr>
          <p:nvPr/>
        </p:nvSpPr>
        <p:spPr>
          <a:xfrm>
            <a:off x="3147047" y="5275973"/>
            <a:ext cx="1429585" cy="4577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s-ES" sz="1400" spc="150" dirty="0">
                <a:latin typeface="+mj-lt"/>
                <a:ea typeface="+mj-ea"/>
                <a:cs typeface="+mj-cs"/>
              </a:rPr>
              <a:t>PROPUESTA</a:t>
            </a:r>
            <a:endParaRPr lang="es-ES" sz="1100" dirty="0"/>
          </a:p>
        </p:txBody>
      </p:sp>
      <p:sp>
        <p:nvSpPr>
          <p:cNvPr id="59" name="Marcador de texto 31">
            <a:extLst>
              <a:ext uri="{FF2B5EF4-FFF2-40B4-BE49-F238E27FC236}">
                <a16:creationId xmlns:a16="http://schemas.microsoft.com/office/drawing/2014/main" id="{234079D9-E00C-4C6B-9F2D-D0BCB9C9D7D8}"/>
              </a:ext>
            </a:extLst>
          </p:cNvPr>
          <p:cNvSpPr txBox="1">
            <a:spLocks/>
          </p:cNvSpPr>
          <p:nvPr/>
        </p:nvSpPr>
        <p:spPr>
          <a:xfrm>
            <a:off x="4479586" y="5277014"/>
            <a:ext cx="1912430" cy="5619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s-ES" sz="1400" spc="150" dirty="0">
                <a:latin typeface="+mj-lt"/>
                <a:ea typeface="+mj-ea"/>
                <a:cs typeface="+mj-cs"/>
              </a:rPr>
              <a:t>IMPLEMENTACIÓN</a:t>
            </a:r>
            <a:endParaRPr lang="es-ES" sz="1400" dirty="0"/>
          </a:p>
        </p:txBody>
      </p:sp>
      <p:cxnSp>
        <p:nvCxnSpPr>
          <p:cNvPr id="61" name="Conector recto 60">
            <a:extLst>
              <a:ext uri="{FF2B5EF4-FFF2-40B4-BE49-F238E27FC236}">
                <a16:creationId xmlns:a16="http://schemas.microsoft.com/office/drawing/2014/main" id="{F8C93671-1250-4705-A092-97036B9012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51" idx="2"/>
          </p:cNvCxnSpPr>
          <p:nvPr/>
        </p:nvCxnSpPr>
        <p:spPr>
          <a:xfrm>
            <a:off x="5435802" y="4618038"/>
            <a:ext cx="1261" cy="537881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recto 64">
            <a:extLst>
              <a:ext uri="{FF2B5EF4-FFF2-40B4-BE49-F238E27FC236}">
                <a16:creationId xmlns:a16="http://schemas.microsoft.com/office/drawing/2014/main" id="{F6C72AC5-2842-4966-BBE7-6F407A9C3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58" idx="2"/>
          </p:cNvCxnSpPr>
          <p:nvPr/>
        </p:nvCxnSpPr>
        <p:spPr>
          <a:xfrm>
            <a:off x="3870499" y="4612068"/>
            <a:ext cx="4176" cy="558619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ángulo 50">
            <a:extLst>
              <a:ext uri="{FF2B5EF4-FFF2-40B4-BE49-F238E27FC236}">
                <a16:creationId xmlns:a16="http://schemas.microsoft.com/office/drawing/2014/main" id="{94959EA3-B71F-49E3-A68E-1329BE0461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2339" y="4343110"/>
            <a:ext cx="526925" cy="27492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/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082DCB52-65FA-4B5F-8785-060AF61C38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11213" y="4357878"/>
            <a:ext cx="518572" cy="25419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/>
          </a:p>
        </p:txBody>
      </p:sp>
      <p:sp>
        <p:nvSpPr>
          <p:cNvPr id="66" name="Marcador de fecha 65">
            <a:extLst>
              <a:ext uri="{FF2B5EF4-FFF2-40B4-BE49-F238E27FC236}">
                <a16:creationId xmlns:a16="http://schemas.microsoft.com/office/drawing/2014/main" id="{FF303B66-BE3D-4142-824A-9EE2B01725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s-ES"/>
              <a:t>20XX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A35BD6B-402B-4987-9FCE-9A6924EE2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s-ES"/>
              <a:t>Presentación de lanzamiento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259ECD5-0EAD-48D0-B30B-16305BC10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es-ES" smtClean="0"/>
              <a:pPr rtl="0"/>
              <a:t>3</a:t>
            </a:fld>
            <a:endParaRPr lang="es-ES"/>
          </a:p>
        </p:txBody>
      </p:sp>
      <p:sp>
        <p:nvSpPr>
          <p:cNvPr id="50" name="Año">
            <a:extLst>
              <a:ext uri="{FF2B5EF4-FFF2-40B4-BE49-F238E27FC236}">
                <a16:creationId xmlns:a16="http://schemas.microsoft.com/office/drawing/2014/main" id="{96F6310E-B1F0-4BA0-ABFF-A6A1E40DD5F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914400" y="4292468"/>
            <a:ext cx="731520" cy="457200"/>
          </a:xfrm>
        </p:spPr>
        <p:txBody>
          <a:bodyPr rtlCol="0">
            <a:normAutofit/>
          </a:bodyPr>
          <a:lstStyle/>
          <a:p>
            <a:pPr rtl="0"/>
            <a:r>
              <a:rPr lang="es-ES" dirty="0"/>
              <a:t>2022</a:t>
            </a:r>
          </a:p>
        </p:txBody>
      </p:sp>
      <p:sp>
        <p:nvSpPr>
          <p:cNvPr id="64" name="Marcador de texto 31">
            <a:extLst>
              <a:ext uri="{FF2B5EF4-FFF2-40B4-BE49-F238E27FC236}">
                <a16:creationId xmlns:a16="http://schemas.microsoft.com/office/drawing/2014/main" id="{47B98F68-6445-473D-9F15-7A3BC3E92887}"/>
              </a:ext>
            </a:extLst>
          </p:cNvPr>
          <p:cNvSpPr txBox="1">
            <a:spLocks/>
          </p:cNvSpPr>
          <p:nvPr/>
        </p:nvSpPr>
        <p:spPr>
          <a:xfrm>
            <a:off x="5196899" y="2284284"/>
            <a:ext cx="2057400" cy="5619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s-ES" sz="1400" spc="150" dirty="0">
                <a:latin typeface="+mj-lt"/>
                <a:ea typeface="+mj-ea"/>
                <a:cs typeface="+mj-cs"/>
              </a:rPr>
              <a:t>PRSENTACIÓN</a:t>
            </a:r>
            <a:endParaRPr lang="es-ES" sz="1100" dirty="0"/>
          </a:p>
        </p:txBody>
      </p:sp>
    </p:spTree>
    <p:extLst>
      <p:ext uri="{BB962C8B-B14F-4D97-AF65-F5344CB8AC3E}">
        <p14:creationId xmlns:p14="http://schemas.microsoft.com/office/powerpoint/2010/main" val="57897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19F29B-F233-48AF-8261-F33A4E079E3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9" y="1020445"/>
            <a:ext cx="3171825" cy="1325563"/>
          </a:xfrm>
        </p:spPr>
        <p:txBody>
          <a:bodyPr rtlCol="0"/>
          <a:lstStyle/>
          <a:p>
            <a:pPr rtl="0"/>
            <a:r>
              <a:rPr lang="es-ES"/>
              <a:t>QUIÉNES SOMOS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5E3EA69-4E0E-41BD-8095-A124225A26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913380"/>
          </a:xfrm>
        </p:spPr>
        <p:txBody>
          <a:bodyPr rtlCol="0">
            <a:normAutofit/>
          </a:bodyPr>
          <a:lstStyle/>
          <a:p>
            <a:pPr rtl="0"/>
            <a:r>
              <a:rPr lang="es-ES"/>
              <a:t>En Contoso, ayudamos a las empresas a fomentar el pensamiento colaborativo para impulsar aún más la innovación en el área de trabajo. Cerramos el bucle y aprovechamos los marcos ágiles, así ayudamos a que el negocio crezca de manera orgánica y a potenciar la mentalidad centrada en el consumidor.</a:t>
            </a:r>
          </a:p>
        </p:txBody>
      </p:sp>
      <p:sp>
        <p:nvSpPr>
          <p:cNvPr id="6" name="Marcador de fecha 5">
            <a:extLst>
              <a:ext uri="{FF2B5EF4-FFF2-40B4-BE49-F238E27FC236}">
                <a16:creationId xmlns:a16="http://schemas.microsoft.com/office/drawing/2014/main" id="{B69DF042-37C5-4E09-AA4C-AA66649C95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/>
          <a:p>
            <a:pPr rtl="0"/>
            <a:r>
              <a:rPr lang="es-ES"/>
              <a:t>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F29EA23-F34E-486A-B8B2-0C3019266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/>
          <a:p>
            <a:pPr rtl="0"/>
            <a:r>
              <a:rPr lang="es-ES"/>
              <a:t>Presentación de lanzamiento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28F602C-7F98-4C02-99D4-ED65E00D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es-ES" smtClean="0"/>
              <a:pPr rtl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708C79-A4AC-4B5D-92DF-600737E4D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09419"/>
            <a:ext cx="4082142" cy="585788"/>
          </a:xfrm>
        </p:spPr>
        <p:txBody>
          <a:bodyPr rtlCol="0"/>
          <a:lstStyle/>
          <a:p>
            <a:pPr rtl="0"/>
            <a:r>
              <a:rPr lang="es-ES"/>
              <a:t>PROBLEMA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779DE4-CAEA-4617-897E-FEC9A2AC2D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8318" y="1481138"/>
            <a:ext cx="2141764" cy="514350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rtl="0"/>
            <a:r>
              <a:rPr lang="es-ES"/>
              <a:t>BRECHA EN EL MERCADO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5FF1291-56EB-4A7B-A198-1D91F9ECC5D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4375" y="2557463"/>
            <a:ext cx="2141764" cy="514350"/>
          </a:xfrm>
        </p:spPr>
        <p:txBody>
          <a:bodyPr rtlCol="0"/>
          <a:lstStyle/>
          <a:p>
            <a:pPr rtl="0"/>
            <a:r>
              <a:rPr lang="es-ES"/>
              <a:t>CLIENTES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184E21C-7534-4FB5-9709-F7D1A11034F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20800" y="3633788"/>
            <a:ext cx="2141764" cy="514350"/>
          </a:xfrm>
        </p:spPr>
        <p:txBody>
          <a:bodyPr rtlCol="0"/>
          <a:lstStyle/>
          <a:p>
            <a:pPr rtl="0"/>
            <a:r>
              <a:rPr lang="es-ES"/>
              <a:t>FINANZAS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5C594564-4FC6-401A-8586-44735EE819E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905000" y="4710114"/>
            <a:ext cx="2141764" cy="514350"/>
          </a:xfrm>
        </p:spPr>
        <p:txBody>
          <a:bodyPr rtlCol="0"/>
          <a:lstStyle/>
          <a:p>
            <a:pPr rtl="0"/>
            <a:r>
              <a:rPr lang="es-ES"/>
              <a:t>COSTES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D7EB25CA-DA83-483D-AF83-0001BDF2DE2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01535" y="1594478"/>
            <a:ext cx="5539095" cy="1010842"/>
          </a:xfrm>
        </p:spPr>
        <p:txBody>
          <a:bodyPr rtlCol="0"/>
          <a:lstStyle/>
          <a:p>
            <a:pPr rtl="0"/>
            <a:r>
              <a:rPr lang="es-ES"/>
              <a:t>Algunos productos del mercado, si los hay, ayudan a los clientes como nosotros lo hacemos.</a:t>
            </a:r>
          </a:p>
          <a:p>
            <a:pPr rtl="0"/>
            <a:endParaRPr lang="es-ES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B46CE8C6-E12D-4A0D-8553-7FFA31941D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986028" y="2673328"/>
            <a:ext cx="5539095" cy="1010842"/>
          </a:xfrm>
        </p:spPr>
        <p:txBody>
          <a:bodyPr rtlCol="0"/>
          <a:lstStyle/>
          <a:p>
            <a:pPr rtl="0"/>
            <a:r>
              <a:rPr lang="es-ES"/>
              <a:t>El 66 % de los consumidores de EE. UU. invierte dinero en varios productos que solo resuelven su problema de manera parcial.</a:t>
            </a:r>
          </a:p>
          <a:p>
            <a:pPr rtl="0"/>
            <a:endParaRPr lang="es-ES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1C7D5285-85DF-4331-A6FA-1AE847CA47A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576937" y="3755394"/>
            <a:ext cx="5539095" cy="1010842"/>
          </a:xfrm>
        </p:spPr>
        <p:txBody>
          <a:bodyPr rtlCol="0"/>
          <a:lstStyle/>
          <a:p>
            <a:pPr rtl="0"/>
            <a:r>
              <a:rPr lang="es-ES"/>
              <a:t>Los millennials representan aproximadamente un cuarto de los 48 mil millones de dólares invertidos en 2018 en otros productos.</a:t>
            </a:r>
          </a:p>
          <a:p>
            <a:pPr rtl="0"/>
            <a:endParaRPr lang="es-ES"/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02D305EF-9A88-496B-BFC1-D589A01EE38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75279" y="4824430"/>
            <a:ext cx="5539095" cy="1010842"/>
          </a:xfrm>
        </p:spPr>
        <p:txBody>
          <a:bodyPr rtlCol="0"/>
          <a:lstStyle/>
          <a:p>
            <a:pPr rtl="0"/>
            <a:r>
              <a:rPr lang="es-ES"/>
              <a:t>Pérdida de productividad que cuesta a los consumidores miles de dólares </a:t>
            </a:r>
          </a:p>
          <a:p>
            <a:pPr rtl="0"/>
            <a:endParaRPr lang="es-ES"/>
          </a:p>
        </p:txBody>
      </p:sp>
      <p:sp>
        <p:nvSpPr>
          <p:cNvPr id="11" name="Marcador de fecha 10">
            <a:extLst>
              <a:ext uri="{FF2B5EF4-FFF2-40B4-BE49-F238E27FC236}">
                <a16:creationId xmlns:a16="http://schemas.microsoft.com/office/drawing/2014/main" id="{40BF6865-7FAE-4B56-A995-ADF1582DCC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s-ES"/>
              <a:t>20XX</a:t>
            </a:r>
          </a:p>
        </p:txBody>
      </p:sp>
      <p:sp>
        <p:nvSpPr>
          <p:cNvPr id="80" name="Marcador de pie de página 79">
            <a:extLst>
              <a:ext uri="{FF2B5EF4-FFF2-40B4-BE49-F238E27FC236}">
                <a16:creationId xmlns:a16="http://schemas.microsoft.com/office/drawing/2014/main" id="{81398ED2-66DB-46EA-8D89-B07A5C039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75279" y="6356350"/>
            <a:ext cx="1808712" cy="365125"/>
          </a:xfrm>
        </p:spPr>
        <p:txBody>
          <a:bodyPr rtlCol="0"/>
          <a:lstStyle/>
          <a:p>
            <a:pPr rtl="0"/>
            <a:r>
              <a:rPr lang="es-ES"/>
              <a:t>Presentación de lanzamiento</a:t>
            </a:r>
          </a:p>
        </p:txBody>
      </p:sp>
      <p:sp>
        <p:nvSpPr>
          <p:cNvPr id="13" name="Marcador de número de diapositiva 12">
            <a:extLst>
              <a:ext uri="{FF2B5EF4-FFF2-40B4-BE49-F238E27FC236}">
                <a16:creationId xmlns:a16="http://schemas.microsoft.com/office/drawing/2014/main" id="{E3984D70-BD95-4E1F-9725-902B5D74D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s-ES" smtClean="0"/>
              <a:pPr rtl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38561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rtlCol="0"/>
          <a:lstStyle/>
          <a:p>
            <a:pPr rtl="0"/>
            <a:r>
              <a:rPr lang="es-ES"/>
              <a:t>SOLUCIÓN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A2EB3F-4D60-451F-8F45-7D6654D2FC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85900" y="2563123"/>
            <a:ext cx="4031945" cy="36512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rtl="0"/>
            <a:r>
              <a:rPr lang="es-ES"/>
              <a:t>CERRAR LA BRECHA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C1C80FB-53F9-42EE-B1E6-D0F998EC5DF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85664" y="3070348"/>
            <a:ext cx="4031030" cy="1057308"/>
          </a:xfrm>
        </p:spPr>
        <p:txBody>
          <a:bodyPr rtlCol="0"/>
          <a:lstStyle/>
          <a:p>
            <a:pPr rtl="0"/>
            <a:r>
              <a:rPr lang="es-ES"/>
              <a:t>Nuestro producto hace la vida más fácil a los consumidores y ningún otro producto del mercado ofrece las mismas características.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81BA2B5-6A90-4204-ABDD-7183FBB03A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73004" y="2563123"/>
            <a:ext cx="4031945" cy="365125"/>
          </a:xfrm>
        </p:spPr>
        <p:txBody>
          <a:bodyPr rtlCol="0">
            <a:normAutofit lnSpcReduction="10000"/>
          </a:bodyPr>
          <a:lstStyle/>
          <a:p>
            <a:pPr rtl="0"/>
            <a:r>
              <a:rPr lang="es-ES"/>
              <a:t>PÚBLICO OBJETIVO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7E7D4C34-22A0-4D54-A07D-E1E9A11463E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73143" y="3070348"/>
            <a:ext cx="4031030" cy="1057308"/>
          </a:xfrm>
        </p:spPr>
        <p:txBody>
          <a:bodyPr rtlCol="0"/>
          <a:lstStyle/>
          <a:p>
            <a:pPr rtl="0"/>
            <a:r>
              <a:rPr lang="es-ES"/>
              <a:t>Nuestro público objetivo es la generación Z (de 18 a 25 años).</a:t>
            </a:r>
          </a:p>
          <a:p>
            <a:pPr rtl="0"/>
            <a:endParaRPr lang="es-ES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301D392D-FB66-47A0-B628-5ADE822A2C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485899" y="4319431"/>
            <a:ext cx="4031945" cy="365125"/>
          </a:xfrm>
        </p:spPr>
        <p:txBody>
          <a:bodyPr rtlCol="0">
            <a:normAutofit lnSpcReduction="10000"/>
          </a:bodyPr>
          <a:lstStyle/>
          <a:p>
            <a:pPr rtl="0"/>
            <a:r>
              <a:rPr lang="es-ES"/>
              <a:t>AHORRO DE COSTOS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51C26CE0-2506-4B44-A26F-C12BFA5B18B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486412" y="4826656"/>
            <a:ext cx="4031030" cy="1057308"/>
          </a:xfrm>
        </p:spPr>
        <p:txBody>
          <a:bodyPr rtlCol="0"/>
          <a:lstStyle/>
          <a:p>
            <a:pPr rtl="0"/>
            <a:r>
              <a:rPr lang="es-ES"/>
              <a:t>Reducir los gastos de los productos de repuesto </a:t>
            </a:r>
          </a:p>
          <a:p>
            <a:pPr rtl="0"/>
            <a:endParaRPr lang="es-ES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868F40F8-BF35-45E9-B3DD-5436362D746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72630" y="4319431"/>
            <a:ext cx="4031945" cy="365125"/>
          </a:xfrm>
        </p:spPr>
        <p:txBody>
          <a:bodyPr rtlCol="0">
            <a:normAutofit lnSpcReduction="10000"/>
          </a:bodyPr>
          <a:lstStyle/>
          <a:p>
            <a:pPr rtl="0"/>
            <a:r>
              <a:rPr lang="es-ES"/>
              <a:t>FÁCIL DE USAR</a:t>
            </a:r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7F39C97C-2DDC-4706-B96C-B02FAE53A42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73143" y="4826656"/>
            <a:ext cx="4031030" cy="1057308"/>
          </a:xfrm>
        </p:spPr>
        <p:txBody>
          <a:bodyPr rtlCol="0"/>
          <a:lstStyle/>
          <a:p>
            <a:pPr rtl="0"/>
            <a:r>
              <a:rPr lang="es-ES"/>
              <a:t>Diseño sencillo que proporciona a los clientes la información específica que necesitan</a:t>
            </a:r>
          </a:p>
        </p:txBody>
      </p:sp>
      <p:sp>
        <p:nvSpPr>
          <p:cNvPr id="80" name="Marcador de fecha 79">
            <a:extLst>
              <a:ext uri="{FF2B5EF4-FFF2-40B4-BE49-F238E27FC236}">
                <a16:creationId xmlns:a16="http://schemas.microsoft.com/office/drawing/2014/main" id="{BC1F9D86-85D8-4FD0-B0D3-47D778722782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s-ES"/>
              <a:t>20XX</a:t>
            </a:r>
          </a:p>
        </p:txBody>
      </p:sp>
      <p:sp>
        <p:nvSpPr>
          <p:cNvPr id="81" name="Marcador de pie de página 80">
            <a:extLst>
              <a:ext uri="{FF2B5EF4-FFF2-40B4-BE49-F238E27FC236}">
                <a16:creationId xmlns:a16="http://schemas.microsoft.com/office/drawing/2014/main" id="{E94F1D24-E4A1-4B59-B57E-A28453963B88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s-ES"/>
              <a:t>Presentación de lanzamiento</a:t>
            </a:r>
          </a:p>
        </p:txBody>
      </p:sp>
      <p:sp>
        <p:nvSpPr>
          <p:cNvPr id="82" name="Marcador de número de diapositiva 81">
            <a:extLst>
              <a:ext uri="{FF2B5EF4-FFF2-40B4-BE49-F238E27FC236}">
                <a16:creationId xmlns:a16="http://schemas.microsoft.com/office/drawing/2014/main" id="{CE36A058-BEC2-4BC5-A467-F2EB2A36505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s-ES" smtClean="0"/>
              <a:pPr rtl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93920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8760" y="4156405"/>
            <a:ext cx="3139440" cy="1325563"/>
          </a:xfrm>
        </p:spPr>
        <p:txBody>
          <a:bodyPr rtlCol="0"/>
          <a:lstStyle/>
          <a:p>
            <a:pPr rtl="0"/>
            <a:r>
              <a:rPr lang="es-ES"/>
              <a:t>INFORMACIÓN GENERAL DEL PRODUCTO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A2EB3F-4D60-451F-8F45-7D6654D2FC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254" y="1530635"/>
            <a:ext cx="5433204" cy="36512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rtl="0"/>
            <a:r>
              <a:rPr lang="es-ES"/>
              <a:t>ÚNICO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C1C80FB-53F9-42EE-B1E6-D0F998EC5DF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21828" y="1860060"/>
            <a:ext cx="5431971" cy="557950"/>
          </a:xfrm>
        </p:spPr>
        <p:txBody>
          <a:bodyPr rtlCol="0">
            <a:normAutofit/>
          </a:bodyPr>
          <a:lstStyle/>
          <a:p>
            <a:pPr rtl="0"/>
            <a:r>
              <a:rPr lang="es-ES"/>
              <a:t>Un producto orientado específicamente a este mercado especializado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81BA2B5-6A90-4204-ABDD-7183FBB03A0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922254" y="2630431"/>
            <a:ext cx="5433204" cy="365125"/>
          </a:xfrm>
        </p:spPr>
        <p:txBody>
          <a:bodyPr rtlCol="0">
            <a:normAutofit lnSpcReduction="10000"/>
          </a:bodyPr>
          <a:lstStyle/>
          <a:p>
            <a:pPr rtl="0"/>
            <a:r>
              <a:rPr lang="es-ES"/>
              <a:t>INNOVADOR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7E7D4C34-22A0-4D54-A07D-E1E9A11463E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921828" y="2959856"/>
            <a:ext cx="5431971" cy="557950"/>
          </a:xfrm>
        </p:spPr>
        <p:txBody>
          <a:bodyPr rtlCol="0"/>
          <a:lstStyle/>
          <a:p>
            <a:pPr rtl="0"/>
            <a:r>
              <a:rPr lang="es-ES"/>
              <a:t>Producto innovador con un diseño atractivo, es elegante y funcional.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301D392D-FB66-47A0-B628-5ADE822A2CF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22254" y="3730227"/>
            <a:ext cx="5433204" cy="365125"/>
          </a:xfrm>
        </p:spPr>
        <p:txBody>
          <a:bodyPr rtlCol="0">
            <a:normAutofit lnSpcReduction="10000"/>
          </a:bodyPr>
          <a:lstStyle/>
          <a:p>
            <a:pPr rtl="0"/>
            <a:r>
              <a:rPr lang="es-ES"/>
              <a:t>PROBADO 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51C26CE0-2506-4B44-A26F-C12BFA5B18B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21828" y="4059652"/>
            <a:ext cx="5431971" cy="557950"/>
          </a:xfrm>
        </p:spPr>
        <p:txBody>
          <a:bodyPr rtlCol="0"/>
          <a:lstStyle/>
          <a:p>
            <a:pPr rtl="0"/>
            <a:r>
              <a:rPr lang="es-ES"/>
              <a:t>Se ha probado en estudiantes universitarios del sector.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868F40F8-BF35-45E9-B3DD-5436362D746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20106" y="4830024"/>
            <a:ext cx="5433204" cy="365125"/>
          </a:xfrm>
        </p:spPr>
        <p:txBody>
          <a:bodyPr rtlCol="0">
            <a:normAutofit lnSpcReduction="10000"/>
          </a:bodyPr>
          <a:lstStyle/>
          <a:p>
            <a:pPr rtl="0"/>
            <a:r>
              <a:rPr lang="es-ES"/>
              <a:t>AUTÉNTICO</a:t>
            </a:r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7F39C97C-2DDC-4706-B96C-B02FAE53A42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919680" y="5159449"/>
            <a:ext cx="5431971" cy="557950"/>
          </a:xfrm>
        </p:spPr>
        <p:txBody>
          <a:bodyPr rtlCol="0"/>
          <a:lstStyle/>
          <a:p>
            <a:pPr rtl="0"/>
            <a:r>
              <a:rPr lang="es-ES"/>
              <a:t>Diseñado con la ayuda y la entrada de expertos en el campo </a:t>
            </a:r>
          </a:p>
        </p:txBody>
      </p:sp>
      <p:sp>
        <p:nvSpPr>
          <p:cNvPr id="20" name="Marcador de fecha 19">
            <a:extLst>
              <a:ext uri="{FF2B5EF4-FFF2-40B4-BE49-F238E27FC236}">
                <a16:creationId xmlns:a16="http://schemas.microsoft.com/office/drawing/2014/main" id="{A74D661B-510C-4CF2-BF77-3EAFB649883D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/>
          <a:p>
            <a:pPr rtl="0"/>
            <a:r>
              <a:rPr lang="es-ES"/>
              <a:t>20XX</a:t>
            </a:r>
          </a:p>
        </p:txBody>
      </p:sp>
      <p:sp>
        <p:nvSpPr>
          <p:cNvPr id="21" name="Marcador de pie de página 20">
            <a:extLst>
              <a:ext uri="{FF2B5EF4-FFF2-40B4-BE49-F238E27FC236}">
                <a16:creationId xmlns:a16="http://schemas.microsoft.com/office/drawing/2014/main" id="{7E44CAC0-3B5A-49F6-A2CB-0BC80D111A87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/>
          <a:p>
            <a:pPr rtl="0"/>
            <a:r>
              <a:rPr lang="es-ES"/>
              <a:t>Presentación de lanzamiento</a:t>
            </a:r>
          </a:p>
        </p:txBody>
      </p:sp>
      <p:sp>
        <p:nvSpPr>
          <p:cNvPr id="22" name="Marcador de número de diapositiva 21">
            <a:extLst>
              <a:ext uri="{FF2B5EF4-FFF2-40B4-BE49-F238E27FC236}">
                <a16:creationId xmlns:a16="http://schemas.microsoft.com/office/drawing/2014/main" id="{5D1BD041-3428-4D62-934F-F3FF6D36F90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s-ES" smtClean="0"/>
              <a:pPr rtl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44941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5" y="1671639"/>
            <a:ext cx="5111750" cy="1204912"/>
          </a:xfrm>
        </p:spPr>
        <p:txBody>
          <a:bodyPr rtlCol="0"/>
          <a:lstStyle/>
          <a:p>
            <a:pPr rtl="0"/>
            <a:r>
              <a:rPr lang="es-ES" dirty="0"/>
              <a:t>VENTAJAS DEL PRODUCTO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33634FE-ADF0-4BC3-A0A9-447EA9DD0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es-ES" dirty="0"/>
              <a:t>Producto interesante y elegante</a:t>
            </a:r>
          </a:p>
          <a:p>
            <a:pPr rtl="0"/>
            <a:r>
              <a:rPr lang="es-ES" noProof="1"/>
              <a:t>Áreas para conectar con la comunidad </a:t>
            </a:r>
          </a:p>
          <a:p>
            <a:pPr rtl="0"/>
            <a:r>
              <a:rPr lang="es-ES" noProof="1"/>
              <a:t>Tienda en línea e intercambio de mercado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C2ACA2A-6BBE-47CF-B76F-F56C9DBF77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s-ES" dirty="0"/>
              <a:t>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96A095E-DB05-47EC-A2D5-47398A4A0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 rtlCol="0"/>
          <a:lstStyle/>
          <a:p>
            <a:pPr rtl="0"/>
            <a:r>
              <a:rPr lang="es-ES" dirty="0"/>
              <a:t>Presentación de lanzamiento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23C3221-5F04-4CA7-A86A-EEA8566A1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s-ES" smtClean="0"/>
              <a:pPr rtl="0"/>
              <a:t>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9DE7F2-E890-4744-88DD-A75F5E3005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2571235"/>
            <a:ext cx="4179570" cy="1715531"/>
          </a:xfrm>
        </p:spPr>
        <p:txBody>
          <a:bodyPr rtlCol="0"/>
          <a:lstStyle/>
          <a:p>
            <a:pPr rtl="0"/>
            <a:r>
              <a:rPr lang="es-ES"/>
              <a:t>PANORAMA DE LA EMPRESA</a:t>
            </a:r>
          </a:p>
        </p:txBody>
      </p:sp>
    </p:spTree>
    <p:extLst>
      <p:ext uri="{BB962C8B-B14F-4D97-AF65-F5344CB8AC3E}">
        <p14:creationId xmlns:p14="http://schemas.microsoft.com/office/powerpoint/2010/main" val="707789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4E0A63-A388-49B1-A04E-27CE9BD62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0169" y="1152771"/>
            <a:ext cx="5431971" cy="846301"/>
          </a:xfrm>
        </p:spPr>
        <p:txBody>
          <a:bodyPr rtlCol="0"/>
          <a:lstStyle/>
          <a:p>
            <a:pPr rtl="0"/>
            <a:r>
              <a:rPr lang="es-ES"/>
              <a:t>MODELO DE NEGOCIO</a:t>
            </a:r>
            <a:endParaRPr lang="es-ES" dirty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7640DF9D-0C9E-4C5D-9635-6B4DE10CCE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254" y="2469515"/>
            <a:ext cx="5433204" cy="365125"/>
          </a:xfrm>
        </p:spPr>
        <p:txBody>
          <a:bodyPr vert="horz" lIns="91440" tIns="45720" rIns="91440" bIns="45720" rtlCol="0" anchor="t">
            <a:noAutofit/>
          </a:bodyPr>
          <a:lstStyle/>
          <a:p>
            <a:pPr rtl="0"/>
            <a:r>
              <a:rPr lang="es-ES" noProof="1"/>
              <a:t>RESUMEN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40297407-CE4E-4284-879D-AEC39571362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/>
          <a:p>
            <a:pPr rtl="0"/>
            <a:r>
              <a:rPr lang="es-ES" noProof="1"/>
              <a:t>Basamos nuestra investigación en tendencias de mercado y redes sociales.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F5C3A7BE-F7FC-4942-A31A-491A8A80610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922254" y="3569311"/>
            <a:ext cx="5433204" cy="365125"/>
          </a:xfrm>
        </p:spPr>
        <p:txBody>
          <a:bodyPr vert="horz" lIns="91440" tIns="45720" rIns="91440" bIns="45720" rtlCol="0" anchor="t">
            <a:noAutofit/>
          </a:bodyPr>
          <a:lstStyle/>
          <a:p>
            <a:pPr rtl="0"/>
            <a:r>
              <a:rPr lang="es-ES" noProof="1"/>
              <a:t>DISEÑO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95CCE699-03D1-4642-B46A-B14EF17DA18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/>
          <a:p>
            <a:pPr rtl="0"/>
            <a:r>
              <a:rPr lang="es-ES" noProof="1"/>
              <a:t>Creemos que la gente necesita más productos dedicados específicamente a este mercado especializado.</a:t>
            </a:r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BC1DF189-6F2F-4C21-88CC-C82D3D0D147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22254" y="4669107"/>
            <a:ext cx="5433204" cy="36512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rtl="0"/>
            <a:r>
              <a:rPr lang="es-ES" noProof="1"/>
              <a:t>INVESTIGACIÓN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6E82690-B145-4D4F-B2D1-0B2A8C50FD7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/>
          <a:p>
            <a:pPr rtl="0"/>
            <a:r>
              <a:rPr lang="es-ES" noProof="1"/>
              <a:t>Simple y fácil de usar </a:t>
            </a:r>
          </a:p>
        </p:txBody>
      </p:sp>
      <p:sp>
        <p:nvSpPr>
          <p:cNvPr id="32" name="Marcador de fecha 31">
            <a:extLst>
              <a:ext uri="{FF2B5EF4-FFF2-40B4-BE49-F238E27FC236}">
                <a16:creationId xmlns:a16="http://schemas.microsoft.com/office/drawing/2014/main" id="{D5DB19F8-B538-4965-BA90-ED372B99F5DC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/>
          <a:p>
            <a:pPr rtl="0"/>
            <a:r>
              <a:rPr lang="es-ES"/>
              <a:t>20XX</a:t>
            </a:r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05C44B1-BA82-483C-BD91-F89067442F9E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/>
          <a:p>
            <a:pPr rtl="0"/>
            <a:r>
              <a:rPr lang="es-ES"/>
              <a:t>Presentación de lanzamiento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9ED4A67-3A46-4F54-A12A-EAE1B53E645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es-ES" smtClean="0"/>
              <a:pPr rtl="0"/>
              <a:t>10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69393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E54ABB-4929-4810-950B-2DAEA0A5B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rtlCol="0"/>
          <a:lstStyle/>
          <a:p>
            <a:pPr rtl="0"/>
            <a:r>
              <a:rPr lang="es-ES"/>
              <a:t>INFORMACIÓN GENERAL DEL MERCADO</a:t>
            </a:r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112B089-A8F9-45B1-BE6E-EAC10163F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3104" y="2776936"/>
            <a:ext cx="2882475" cy="823912"/>
          </a:xfrm>
        </p:spPr>
        <p:txBody>
          <a:bodyPr rtlCol="0"/>
          <a:lstStyle/>
          <a:p>
            <a:pPr rtl="0"/>
            <a:r>
              <a:rPr lang="es-ES"/>
              <a:t>3000 M €</a:t>
            </a:r>
            <a:endParaRPr lang="es-ES" dirty="0"/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6B35F89A-6CDF-41F7-BD87-18B45BD733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3203390" cy="1997867"/>
          </a:xfr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es-ES" noProof="1"/>
              <a:t>Libertad para inventar</a:t>
            </a:r>
            <a:endParaRPr lang="es-ES"/>
          </a:p>
          <a:p>
            <a:pPr rtl="0"/>
            <a:r>
              <a:rPr lang="es-ES" noProof="1"/>
              <a:t>Mercado inclusivo de forma selectiva</a:t>
            </a:r>
          </a:p>
          <a:p>
            <a:pPr rtl="0"/>
            <a:r>
              <a:rPr lang="es-ES" noProof="1"/>
              <a:t>Mercado disponible útil</a:t>
            </a:r>
          </a:p>
          <a:p>
            <a:pPr rtl="0"/>
            <a:endParaRPr lang="es-ES" noProof="1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0FE22F9B-4BF8-41DC-8F1C-836B546E59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47665" y="2776936"/>
            <a:ext cx="2896671" cy="823912"/>
          </a:xfrm>
        </p:spPr>
        <p:txBody>
          <a:bodyPr rtlCol="0"/>
          <a:lstStyle/>
          <a:p>
            <a:pPr rtl="0"/>
            <a:r>
              <a:rPr lang="es-ES"/>
              <a:t>1000 M €</a:t>
            </a:r>
            <a:endParaRPr lang="es-ES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5E1C399-8F48-44F5-9461-3C89866D4C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 rtlCol="0"/>
          <a:lstStyle/>
          <a:p>
            <a:pPr rtl="0"/>
            <a:r>
              <a:rPr lang="es-ES"/>
              <a:t>Oportunidad de crear</a:t>
            </a:r>
          </a:p>
          <a:p>
            <a:pPr rtl="0"/>
            <a:r>
              <a:rPr lang="es-ES"/>
              <a:t>Mercado totalmente inclusivo</a:t>
            </a:r>
          </a:p>
          <a:p>
            <a:pPr rtl="0"/>
            <a:r>
              <a:rPr lang="es-ES"/>
              <a:t>Mercado total disponible</a:t>
            </a:r>
            <a:endParaRPr lang="es-ES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CF515C5D-2CDB-4E66-B2B8-1451BC44247F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066421" y="2776936"/>
            <a:ext cx="2882475" cy="823912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s-ES"/>
              <a:t>2000 M €</a:t>
            </a:r>
            <a:endParaRPr lang="es-ES" dirty="0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E92B9716-8D44-4864-8986-720957B3436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3203390" cy="1997867"/>
          </a:xfrm>
        </p:spPr>
        <p:txBody>
          <a:bodyPr rtlCol="0"/>
          <a:lstStyle/>
          <a:p>
            <a:pPr rtl="0"/>
            <a:r>
              <a:rPr lang="es-ES" noProof="1"/>
              <a:t>Pocos competidores</a:t>
            </a:r>
          </a:p>
          <a:p>
            <a:pPr rtl="0"/>
            <a:r>
              <a:rPr lang="es-ES" noProof="1"/>
              <a:t>Mercado dirigido a un público específico</a:t>
            </a:r>
          </a:p>
          <a:p>
            <a:pPr rtl="0"/>
            <a:r>
              <a:rPr lang="es-ES" noProof="1"/>
              <a:t>Mercado obtenible útil</a:t>
            </a:r>
            <a:endParaRPr lang="es-ES"/>
          </a:p>
          <a:p>
            <a:pPr rtl="0"/>
            <a:endParaRPr lang="es-ES" dirty="0"/>
          </a:p>
        </p:txBody>
      </p:sp>
      <p:sp>
        <p:nvSpPr>
          <p:cNvPr id="9" name="Marcador de fecha 8">
            <a:extLst>
              <a:ext uri="{FF2B5EF4-FFF2-40B4-BE49-F238E27FC236}">
                <a16:creationId xmlns:a16="http://schemas.microsoft.com/office/drawing/2014/main" id="{7B78F7A0-88C5-4940-B21C-099F472F39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s-ES"/>
              <a:t>20XX</a:t>
            </a:r>
            <a:endParaRPr lang="es-ES" dirty="0"/>
          </a:p>
        </p:txBody>
      </p:sp>
      <p:sp>
        <p:nvSpPr>
          <p:cNvPr id="10" name="Marcador de pie de página 9">
            <a:extLst>
              <a:ext uri="{FF2B5EF4-FFF2-40B4-BE49-F238E27FC236}">
                <a16:creationId xmlns:a16="http://schemas.microsoft.com/office/drawing/2014/main" id="{D2186069-FC8E-433D-9BB4-942220CE8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s-ES"/>
              <a:t>Presentación de lanzamiento</a:t>
            </a:r>
            <a:endParaRPr lang="es-ES" dirty="0"/>
          </a:p>
        </p:txBody>
      </p:sp>
      <p:sp>
        <p:nvSpPr>
          <p:cNvPr id="11" name="Marcador de número de diapositiva 10">
            <a:extLst>
              <a:ext uri="{FF2B5EF4-FFF2-40B4-BE49-F238E27FC236}">
                <a16:creationId xmlns:a16="http://schemas.microsoft.com/office/drawing/2014/main" id="{BAD5B6F4-0A90-447A-A1AE-D75C934B6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s-ES" smtClean="0"/>
              <a:pPr rtl="0"/>
              <a:t>11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21178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64BC4F-3D59-464A-857E-6F155B368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rtlCol="0"/>
          <a:lstStyle/>
          <a:p>
            <a:pPr rtl="0"/>
            <a:r>
              <a:rPr lang="es-ES"/>
              <a:t>Comparativa de mercados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8C1455DF-5CEC-44A2-A92D-8E901D15B7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55698" y="3064615"/>
            <a:ext cx="1872446" cy="823912"/>
          </a:xfrm>
        </p:spPr>
        <p:txBody>
          <a:bodyPr rtlCol="0"/>
          <a:lstStyle/>
          <a:p>
            <a:pPr rtl="0"/>
            <a:r>
              <a:rPr lang="es-ES"/>
              <a:t>3000 M €</a:t>
            </a:r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7C7E7B18-D05F-4C44-8718-8C671160FC98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5097022" y="3064615"/>
            <a:ext cx="1872446" cy="823912"/>
          </a:xfrm>
        </p:spPr>
        <p:txBody>
          <a:bodyPr rtlCol="0"/>
          <a:lstStyle/>
          <a:p>
            <a:pPr rtl="0"/>
            <a:r>
              <a:rPr lang="es-ES"/>
              <a:t>2000 M €</a:t>
            </a:r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C4EAD5C6-02F0-4D27-8D85-1BD5EA833D6F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8508682" y="3064615"/>
            <a:ext cx="1872446" cy="823912"/>
          </a:xfrm>
        </p:spPr>
        <p:txBody>
          <a:bodyPr rtlCol="0"/>
          <a:lstStyle/>
          <a:p>
            <a:pPr rtl="0"/>
            <a:r>
              <a:rPr lang="es-ES"/>
              <a:t>1000 M €</a:t>
            </a:r>
          </a:p>
        </p:txBody>
      </p:sp>
      <p:sp>
        <p:nvSpPr>
          <p:cNvPr id="19" name="Marcador de contenido 18">
            <a:extLst>
              <a:ext uri="{FF2B5EF4-FFF2-40B4-BE49-F238E27FC236}">
                <a16:creationId xmlns:a16="http://schemas.microsoft.com/office/drawing/2014/main" id="{791D6145-F7F7-43DE-A16B-BF4F9607D4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4824188"/>
            <a:ext cx="4164290" cy="462927"/>
          </a:xfrm>
        </p:spPr>
        <p:txBody>
          <a:bodyPr rtlCol="0"/>
          <a:lstStyle/>
          <a:p>
            <a:pPr rtl="0"/>
            <a:r>
              <a:rPr lang="es-ES"/>
              <a:t>Oportunidad de crear</a:t>
            </a:r>
          </a:p>
        </p:txBody>
      </p:sp>
      <p:sp>
        <p:nvSpPr>
          <p:cNvPr id="22" name="Marcador de contenido 21">
            <a:extLst>
              <a:ext uri="{FF2B5EF4-FFF2-40B4-BE49-F238E27FC236}">
                <a16:creationId xmlns:a16="http://schemas.microsoft.com/office/drawing/2014/main" id="{F296843C-0ED0-4314-A6F0-DD60C828DDFB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 rtlCol="0"/>
          <a:lstStyle/>
          <a:p>
            <a:pPr rtl="0"/>
            <a:r>
              <a:rPr lang="es-ES"/>
              <a:t>Mercado disponible</a:t>
            </a:r>
          </a:p>
        </p:txBody>
      </p:sp>
      <p:sp>
        <p:nvSpPr>
          <p:cNvPr id="20" name="Marcador de contenido 19">
            <a:extLst>
              <a:ext uri="{FF2B5EF4-FFF2-40B4-BE49-F238E27FC236}">
                <a16:creationId xmlns:a16="http://schemas.microsoft.com/office/drawing/2014/main" id="{BC46925A-8382-42EB-891C-DBB4EAAA33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186519" y="4824188"/>
            <a:ext cx="3818964" cy="462927"/>
          </a:xfrm>
        </p:spPr>
        <p:txBody>
          <a:bodyPr rtlCol="0"/>
          <a:lstStyle/>
          <a:p>
            <a:pPr rtl="0"/>
            <a:r>
              <a:rPr lang="es-ES"/>
              <a:t>Libertad para inventar</a:t>
            </a:r>
          </a:p>
        </p:txBody>
      </p:sp>
      <p:sp>
        <p:nvSpPr>
          <p:cNvPr id="23" name="Marcador de contenido 22">
            <a:extLst>
              <a:ext uri="{FF2B5EF4-FFF2-40B4-BE49-F238E27FC236}">
                <a16:creationId xmlns:a16="http://schemas.microsoft.com/office/drawing/2014/main" id="{649BF20C-562E-400E-BEA6-1D5F81F2FE4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 rtlCol="0"/>
          <a:lstStyle/>
          <a:p>
            <a:pPr rtl="0"/>
            <a:r>
              <a:rPr lang="es-ES"/>
              <a:t>Mercado útil</a:t>
            </a:r>
          </a:p>
        </p:txBody>
      </p:sp>
      <p:sp>
        <p:nvSpPr>
          <p:cNvPr id="21" name="Marcador de contenido 20">
            <a:extLst>
              <a:ext uri="{FF2B5EF4-FFF2-40B4-BE49-F238E27FC236}">
                <a16:creationId xmlns:a16="http://schemas.microsoft.com/office/drawing/2014/main" id="{318AFADE-B54F-4988-8000-B9336A39533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 rtlCol="0"/>
          <a:lstStyle/>
          <a:p>
            <a:pPr rtl="0"/>
            <a:r>
              <a:rPr lang="es-ES"/>
              <a:t>Pocos competidores</a:t>
            </a:r>
          </a:p>
        </p:txBody>
      </p:sp>
      <p:sp>
        <p:nvSpPr>
          <p:cNvPr id="24" name="Marcador de contenido 23">
            <a:extLst>
              <a:ext uri="{FF2B5EF4-FFF2-40B4-BE49-F238E27FC236}">
                <a16:creationId xmlns:a16="http://schemas.microsoft.com/office/drawing/2014/main" id="{5AA25980-D334-4FC0-9091-936E53B8D321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 rtlCol="0"/>
          <a:lstStyle/>
          <a:p>
            <a:pPr rtl="0"/>
            <a:r>
              <a:rPr lang="es-ES"/>
              <a:t>Mercado obtenible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9C22D8C-87A6-47AD-8D29-FBBA539EDBE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s-ES"/>
              <a:t>20XX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D346909-C2E0-4F1D-90FC-F5E1D8DFB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s-ES"/>
              <a:t>Presentación de lanzamiento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BC02F21-4E3C-469E-B11C-921423108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s-ES" smtClean="0"/>
              <a:pPr rtl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48543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892177"/>
            <a:ext cx="8421688" cy="1325563"/>
          </a:xfrm>
        </p:spPr>
        <p:txBody>
          <a:bodyPr rtlCol="0"/>
          <a:lstStyle/>
          <a:p>
            <a:pPr rtl="0"/>
            <a:r>
              <a:rPr lang="es-ES"/>
              <a:t>NUESTRA COMPETENCIA</a:t>
            </a:r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8657664-A458-4DDD-ACC2-1D87FCD6FC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33700" y="2776936"/>
            <a:ext cx="3924300" cy="823912"/>
          </a:xfrm>
        </p:spPr>
        <p:txBody>
          <a:bodyPr rtlCol="0"/>
          <a:lstStyle/>
          <a:p>
            <a:pPr rtl="0"/>
            <a:r>
              <a:rPr lang="es-ES"/>
              <a:t>CONTOSO</a:t>
            </a:r>
            <a:endParaRPr lang="es-ES" dirty="0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A6B31B0-7B84-475D-961F-09C0191F91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699" y="3834606"/>
            <a:ext cx="4214225" cy="2368970"/>
          </a:xfr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es-ES" noProof="1"/>
              <a:t>El precio de nuestro producto es inferior al de otras empresas del mercado.</a:t>
            </a:r>
          </a:p>
          <a:p>
            <a:pPr rtl="0"/>
            <a:r>
              <a:rPr lang="es-ES" noProof="1"/>
              <a:t>El diseño es sencillo y fácil de usar, en comparación con los diseños complejos de los competidores.</a:t>
            </a:r>
          </a:p>
          <a:p>
            <a:pPr rtl="0"/>
            <a:r>
              <a:rPr lang="es-ES" noProof="1"/>
              <a:t>La asequibilidad es el principal motivo para que nuestros consumidores puedan usar nuestro producto.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578017FE-712E-4E95-B483-B700F1AA4B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10173" y="2776936"/>
            <a:ext cx="3943627" cy="823912"/>
          </a:xfrm>
        </p:spPr>
        <p:txBody>
          <a:bodyPr rtlCol="0"/>
          <a:lstStyle/>
          <a:p>
            <a:pPr rtl="0"/>
            <a:r>
              <a:rPr lang="es-ES"/>
              <a:t>COMPETENCIA</a:t>
            </a:r>
            <a:endParaRPr lang="es-ES" dirty="0"/>
          </a:p>
        </p:txBody>
      </p:sp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D0E0ACA0-9139-4C37-920D-BF3C1FF461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4234980" cy="2368970"/>
          </a:xfrm>
        </p:spPr>
        <p:txBody>
          <a:bodyPr rtlCol="0">
            <a:normAutofit/>
          </a:bodyPr>
          <a:lstStyle/>
          <a:p>
            <a:pPr rtl="0"/>
            <a:r>
              <a:rPr lang="es-ES" b="1" noProof="1"/>
              <a:t>Empresa A</a:t>
            </a:r>
            <a:br>
              <a:rPr lang="es-ES" noProof="1"/>
            </a:br>
            <a:r>
              <a:rPr lang="es-ES" noProof="1"/>
              <a:t>El producto es más caro</a:t>
            </a:r>
          </a:p>
          <a:p>
            <a:pPr rtl="0"/>
            <a:r>
              <a:rPr lang="es-ES" b="1" noProof="1"/>
              <a:t>Empresas B y C </a:t>
            </a:r>
            <a:br>
              <a:rPr lang="es-ES" noProof="1"/>
            </a:br>
            <a:r>
              <a:rPr lang="es-ES" noProof="1"/>
              <a:t>El producto es costoso e incómodo de usar</a:t>
            </a:r>
          </a:p>
          <a:p>
            <a:pPr rtl="0"/>
            <a:r>
              <a:rPr lang="es-ES" b="1" noProof="1"/>
              <a:t>Empresas D y E</a:t>
            </a:r>
            <a:br>
              <a:rPr lang="es-ES" noProof="1"/>
            </a:br>
            <a:r>
              <a:rPr lang="es-ES" noProof="1"/>
              <a:t>El producto es asequible, pero incómodo de usar</a:t>
            </a:r>
          </a:p>
        </p:txBody>
      </p:sp>
      <p:sp>
        <p:nvSpPr>
          <p:cNvPr id="12" name="Marcador de fecha 11">
            <a:extLst>
              <a:ext uri="{FF2B5EF4-FFF2-40B4-BE49-F238E27FC236}">
                <a16:creationId xmlns:a16="http://schemas.microsoft.com/office/drawing/2014/main" id="{5909F2DC-F097-42AB-88E7-0CA09BD5E2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s-ES"/>
              <a:t>20XX</a:t>
            </a:r>
            <a:endParaRPr lang="es-ES" dirty="0"/>
          </a:p>
        </p:txBody>
      </p:sp>
      <p:sp>
        <p:nvSpPr>
          <p:cNvPr id="13" name="Marcador de pie de página 12">
            <a:extLst>
              <a:ext uri="{FF2B5EF4-FFF2-40B4-BE49-F238E27FC236}">
                <a16:creationId xmlns:a16="http://schemas.microsoft.com/office/drawing/2014/main" id="{F4A37AA9-0BEE-42AC-8CC0-AE5B86635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s-ES"/>
              <a:t>Presentación de lanzamiento</a:t>
            </a:r>
            <a:endParaRPr lang="es-ES" dirty="0"/>
          </a:p>
        </p:txBody>
      </p:sp>
      <p:sp>
        <p:nvSpPr>
          <p:cNvPr id="14" name="Marcador de número de diapositiva 13">
            <a:extLst>
              <a:ext uri="{FF2B5EF4-FFF2-40B4-BE49-F238E27FC236}">
                <a16:creationId xmlns:a16="http://schemas.microsoft.com/office/drawing/2014/main" id="{42152A75-1CD2-44EC-9374-C83D4604A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s-ES" smtClean="0"/>
              <a:pPr rtl="0"/>
              <a:t>13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574093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5C0770-A36E-4500-AA2E-F3DE8416A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rtlCol="0"/>
          <a:lstStyle/>
          <a:p>
            <a:pPr rtl="0"/>
            <a:r>
              <a:rPr lang="es-ES"/>
              <a:t>Nuestra competencia  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B97FAAF-FD5C-4EDE-A2D8-14826645348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42517" y="1599947"/>
            <a:ext cx="1706965" cy="492025"/>
          </a:xfrm>
        </p:spPr>
        <p:txBody>
          <a:bodyPr rtlCol="0">
            <a:normAutofit/>
          </a:bodyPr>
          <a:lstStyle/>
          <a:p>
            <a:pPr rtl="0"/>
            <a:r>
              <a:rPr lang="es-ES"/>
              <a:t>Practicidad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B2F06784-6A30-4941-B70A-A58B611950D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738732" y="2378452"/>
            <a:ext cx="1183179" cy="492025"/>
          </a:xfrm>
        </p:spPr>
        <p:txBody>
          <a:bodyPr rtlCol="0">
            <a:normAutofit/>
          </a:bodyPr>
          <a:lstStyle/>
          <a:p>
            <a:pPr rtl="0"/>
            <a:r>
              <a:rPr lang="es-ES"/>
              <a:t>Competidor A</a:t>
            </a:r>
          </a:p>
        </p:txBody>
      </p:sp>
      <p:sp>
        <p:nvSpPr>
          <p:cNvPr id="29" name="Marcador de texto 28">
            <a:extLst>
              <a:ext uri="{FF2B5EF4-FFF2-40B4-BE49-F238E27FC236}">
                <a16:creationId xmlns:a16="http://schemas.microsoft.com/office/drawing/2014/main" id="{BF7EE2E1-DA9E-4645-BC0D-305C1F12118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522269" y="2169263"/>
            <a:ext cx="1706965" cy="1048575"/>
          </a:xfrm>
        </p:spPr>
        <p:txBody>
          <a:bodyPr rtlCol="0"/>
          <a:lstStyle/>
          <a:p>
            <a:pPr rtl="0"/>
            <a:r>
              <a:rPr lang="es-ES"/>
              <a:t>Contoso</a:t>
            </a:r>
          </a:p>
        </p:txBody>
      </p:sp>
      <p:sp>
        <p:nvSpPr>
          <p:cNvPr id="28" name="Marcador de texto 27">
            <a:extLst>
              <a:ext uri="{FF2B5EF4-FFF2-40B4-BE49-F238E27FC236}">
                <a16:creationId xmlns:a16="http://schemas.microsoft.com/office/drawing/2014/main" id="{E8BD1918-91E9-45FF-B758-93DAFA9EAF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21894" y="3528829"/>
            <a:ext cx="1393863" cy="492025"/>
          </a:xfrm>
        </p:spPr>
        <p:txBody>
          <a:bodyPr rtlCol="0"/>
          <a:lstStyle/>
          <a:p>
            <a:pPr rtl="0"/>
            <a:r>
              <a:rPr lang="es-ES"/>
              <a:t>Asequible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E9C0C8B1-2DBC-40B1-BBA7-7B3D396478A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743219" y="3528829"/>
            <a:ext cx="1380681" cy="492025"/>
          </a:xfrm>
        </p:spPr>
        <p:txBody>
          <a:bodyPr rtlCol="0">
            <a:normAutofit/>
          </a:bodyPr>
          <a:lstStyle/>
          <a:p>
            <a:pPr rtl="0"/>
            <a:r>
              <a:rPr lang="es-ES" dirty="0"/>
              <a:t>Caro</a:t>
            </a:r>
          </a:p>
        </p:txBody>
      </p:sp>
      <p:sp>
        <p:nvSpPr>
          <p:cNvPr id="25" name="Marcador de texto 24">
            <a:extLst>
              <a:ext uri="{FF2B5EF4-FFF2-40B4-BE49-F238E27FC236}">
                <a16:creationId xmlns:a16="http://schemas.microsoft.com/office/drawing/2014/main" id="{225FED20-8F0E-4B86-88AD-F902806B2CA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637747" y="4634331"/>
            <a:ext cx="1183179" cy="492025"/>
          </a:xfrm>
        </p:spPr>
        <p:txBody>
          <a:bodyPr rtlCol="0"/>
          <a:lstStyle/>
          <a:p>
            <a:pPr rtl="0"/>
            <a:r>
              <a:rPr lang="es-ES"/>
              <a:t>Competidor B</a:t>
            </a:r>
          </a:p>
        </p:txBody>
      </p:sp>
      <p:sp>
        <p:nvSpPr>
          <p:cNvPr id="24" name="Marcador de texto 23">
            <a:extLst>
              <a:ext uri="{FF2B5EF4-FFF2-40B4-BE49-F238E27FC236}">
                <a16:creationId xmlns:a16="http://schemas.microsoft.com/office/drawing/2014/main" id="{568D7422-F48C-4829-8937-7DA701F3303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175224" y="4459860"/>
            <a:ext cx="1183179" cy="492025"/>
          </a:xfrm>
        </p:spPr>
        <p:txBody>
          <a:bodyPr rtlCol="0"/>
          <a:lstStyle/>
          <a:p>
            <a:pPr rtl="0"/>
            <a:r>
              <a:rPr lang="es-ES"/>
              <a:t>Competidor C</a:t>
            </a:r>
          </a:p>
        </p:txBody>
      </p:sp>
      <p:sp>
        <p:nvSpPr>
          <p:cNvPr id="26" name="Marcador de texto 25">
            <a:extLst>
              <a:ext uri="{FF2B5EF4-FFF2-40B4-BE49-F238E27FC236}">
                <a16:creationId xmlns:a16="http://schemas.microsoft.com/office/drawing/2014/main" id="{2329531A-E68A-4913-9B66-062FBAC6D24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552714" y="4321788"/>
            <a:ext cx="1183179" cy="492025"/>
          </a:xfrm>
        </p:spPr>
        <p:txBody>
          <a:bodyPr rtlCol="0"/>
          <a:lstStyle/>
          <a:p>
            <a:pPr rtl="0"/>
            <a:r>
              <a:rPr lang="es-ES"/>
              <a:t>Competidor D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7F0BD43D-EBFD-48E7-A1D3-EB9228D4C58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42517" y="5468790"/>
            <a:ext cx="1706965" cy="492025"/>
          </a:xfrm>
        </p:spPr>
        <p:txBody>
          <a:bodyPr rtlCol="0">
            <a:normAutofit/>
          </a:bodyPr>
          <a:lstStyle/>
          <a:p>
            <a:pPr rtl="0"/>
            <a:r>
              <a:rPr lang="es-ES"/>
              <a:t>Incómodo</a:t>
            </a:r>
          </a:p>
        </p:txBody>
      </p:sp>
      <p:sp>
        <p:nvSpPr>
          <p:cNvPr id="27" name="Marcador de texto 26">
            <a:extLst>
              <a:ext uri="{FF2B5EF4-FFF2-40B4-BE49-F238E27FC236}">
                <a16:creationId xmlns:a16="http://schemas.microsoft.com/office/drawing/2014/main" id="{69ADCED5-CED8-4991-9B1E-DB7381BE743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801857" y="5195673"/>
            <a:ext cx="1183179" cy="492025"/>
          </a:xfrm>
        </p:spPr>
        <p:txBody>
          <a:bodyPr rtlCol="0"/>
          <a:lstStyle/>
          <a:p>
            <a:pPr rtl="0"/>
            <a:r>
              <a:rPr lang="es-ES"/>
              <a:t>Competidor E</a:t>
            </a:r>
          </a:p>
        </p:txBody>
      </p:sp>
      <p:sp>
        <p:nvSpPr>
          <p:cNvPr id="42" name="Marcador de fecha 41">
            <a:extLst>
              <a:ext uri="{FF2B5EF4-FFF2-40B4-BE49-F238E27FC236}">
                <a16:creationId xmlns:a16="http://schemas.microsoft.com/office/drawing/2014/main" id="{8ADD2DBD-D314-47B1-BD25-DAF6D4437F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s-ES"/>
              <a:t>20XX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CC7E0A4-FE8E-4F7B-8370-1FA3484B6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s-ES"/>
              <a:t>Presentación de lanzamiento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CE495FC-7E0A-4342-A40D-3B65DCA78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es-ES" smtClean="0"/>
              <a:pPr rtl="0"/>
              <a:t>14</a:t>
            </a:fld>
            <a:endParaRPr lang="es-ES"/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F116CCE2-DE5B-4D04-8780-DE09E03B8A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91806" y="2334532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1930BF4B-0565-4413-BDB0-116E9B84F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28369" y="4421188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/>
          </a:p>
        </p:txBody>
      </p:sp>
      <p:sp>
        <p:nvSpPr>
          <p:cNvPr id="35" name="Elipse 34">
            <a:extLst>
              <a:ext uri="{FF2B5EF4-FFF2-40B4-BE49-F238E27FC236}">
                <a16:creationId xmlns:a16="http://schemas.microsoft.com/office/drawing/2014/main" id="{AEC73B38-496F-4951-89EB-38E1A77E18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64455" y="4595813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8658B547-4844-4FC2-9B4E-C8A8DF4D66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06444" y="4288517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/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B7890BF0-461E-41CE-AFC1-AD52C6B954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55806" y="5157788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/>
          </a:p>
        </p:txBody>
      </p:sp>
      <p:sp>
        <p:nvSpPr>
          <p:cNvPr id="63" name="Gráfico 61">
            <a:extLst>
              <a:ext uri="{FF2B5EF4-FFF2-40B4-BE49-F238E27FC236}">
                <a16:creationId xmlns:a16="http://schemas.microsoft.com/office/drawing/2014/main" id="{9201E1F5-4143-449F-8629-751D36001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97401" y="2072999"/>
            <a:ext cx="1519834" cy="1268594"/>
          </a:xfrm>
          <a:custGeom>
            <a:avLst/>
            <a:gdLst>
              <a:gd name="connsiteX0" fmla="*/ 625766 w 1590050"/>
              <a:gd name="connsiteY0" fmla="*/ 178826 h 1315433"/>
              <a:gd name="connsiteX1" fmla="*/ 284934 w 1590050"/>
              <a:gd name="connsiteY1" fmla="*/ 458195 h 1315433"/>
              <a:gd name="connsiteX2" fmla="*/ 236288 w 1590050"/>
              <a:gd name="connsiteY2" fmla="*/ 498087 h 1315433"/>
              <a:gd name="connsiteX3" fmla="*/ 70217 w 1590050"/>
              <a:gd name="connsiteY3" fmla="*/ 843983 h 1315433"/>
              <a:gd name="connsiteX4" fmla="*/ 651339 w 1590050"/>
              <a:gd name="connsiteY4" fmla="*/ 1315434 h 1315433"/>
              <a:gd name="connsiteX5" fmla="*/ 1079209 w 1590050"/>
              <a:gd name="connsiteY5" fmla="*/ 1264350 h 1315433"/>
              <a:gd name="connsiteX6" fmla="*/ 1430420 w 1590050"/>
              <a:gd name="connsiteY6" fmla="*/ 957844 h 1315433"/>
              <a:gd name="connsiteX7" fmla="*/ 1590051 w 1590050"/>
              <a:gd name="connsiteY7" fmla="*/ 536415 h 1315433"/>
              <a:gd name="connsiteX8" fmla="*/ 1277105 w 1590050"/>
              <a:gd name="connsiteY8" fmla="*/ 312883 h 1315433"/>
              <a:gd name="connsiteX9" fmla="*/ 913138 w 1590050"/>
              <a:gd name="connsiteY9" fmla="*/ 134119 h 1315433"/>
              <a:gd name="connsiteX10" fmla="*/ 536415 w 1590050"/>
              <a:gd name="connsiteY10" fmla="*/ 83035 h 1315433"/>
              <a:gd name="connsiteX11" fmla="*/ 191581 w 1590050"/>
              <a:gd name="connsiteY11" fmla="*/ 843983 h 1315433"/>
              <a:gd name="connsiteX12" fmla="*/ 146875 w 1590050"/>
              <a:gd name="connsiteY12" fmla="*/ 1149426 h 1315433"/>
              <a:gd name="connsiteX13" fmla="*/ 1245217 w 1590050"/>
              <a:gd name="connsiteY13" fmla="*/ 1289923 h 1315433"/>
              <a:gd name="connsiteX14" fmla="*/ 1519771 w 1590050"/>
              <a:gd name="connsiteY14" fmla="*/ 344834 h 1315433"/>
              <a:gd name="connsiteX15" fmla="*/ 798214 w 1590050"/>
              <a:gd name="connsiteY15" fmla="*/ 223532 h 1315433"/>
              <a:gd name="connsiteX16" fmla="*/ 0 w 1590050"/>
              <a:gd name="connsiteY16" fmla="*/ 699235 h 1315433"/>
              <a:gd name="connsiteX17" fmla="*/ 434247 w 1590050"/>
              <a:gd name="connsiteY17" fmla="*/ 1315434 h 1315433"/>
              <a:gd name="connsiteX18" fmla="*/ 1468686 w 1590050"/>
              <a:gd name="connsiteY18" fmla="*/ 1091964 h 1315433"/>
              <a:gd name="connsiteX19" fmla="*/ 1155804 w 1590050"/>
              <a:gd name="connsiteY19" fmla="*/ 0 h 1315433"/>
              <a:gd name="connsiteX0" fmla="*/ 625766 w 1590051"/>
              <a:gd name="connsiteY0" fmla="*/ 178826 h 1315434"/>
              <a:gd name="connsiteX1" fmla="*/ 284934 w 1590051"/>
              <a:gd name="connsiteY1" fmla="*/ 458195 h 1315434"/>
              <a:gd name="connsiteX2" fmla="*/ 236288 w 1590051"/>
              <a:gd name="connsiteY2" fmla="*/ 498087 h 1315434"/>
              <a:gd name="connsiteX3" fmla="*/ 70217 w 1590051"/>
              <a:gd name="connsiteY3" fmla="*/ 843983 h 1315434"/>
              <a:gd name="connsiteX4" fmla="*/ 651339 w 1590051"/>
              <a:gd name="connsiteY4" fmla="*/ 1315434 h 1315434"/>
              <a:gd name="connsiteX5" fmla="*/ 1079209 w 1590051"/>
              <a:gd name="connsiteY5" fmla="*/ 1264350 h 1315434"/>
              <a:gd name="connsiteX6" fmla="*/ 1430420 w 1590051"/>
              <a:gd name="connsiteY6" fmla="*/ 957844 h 1315434"/>
              <a:gd name="connsiteX7" fmla="*/ 1590051 w 1590051"/>
              <a:gd name="connsiteY7" fmla="*/ 536415 h 1315434"/>
              <a:gd name="connsiteX8" fmla="*/ 1277105 w 1590051"/>
              <a:gd name="connsiteY8" fmla="*/ 312883 h 1315434"/>
              <a:gd name="connsiteX9" fmla="*/ 913138 w 1590051"/>
              <a:gd name="connsiteY9" fmla="*/ 134119 h 1315434"/>
              <a:gd name="connsiteX10" fmla="*/ 536415 w 1590051"/>
              <a:gd name="connsiteY10" fmla="*/ 83035 h 1315434"/>
              <a:gd name="connsiteX11" fmla="*/ 290641 w 1590051"/>
              <a:gd name="connsiteY11" fmla="*/ 661103 h 1315434"/>
              <a:gd name="connsiteX12" fmla="*/ 146875 w 1590051"/>
              <a:gd name="connsiteY12" fmla="*/ 1149426 h 1315434"/>
              <a:gd name="connsiteX13" fmla="*/ 1245217 w 1590051"/>
              <a:gd name="connsiteY13" fmla="*/ 1289923 h 1315434"/>
              <a:gd name="connsiteX14" fmla="*/ 1519771 w 1590051"/>
              <a:gd name="connsiteY14" fmla="*/ 344834 h 1315434"/>
              <a:gd name="connsiteX15" fmla="*/ 798214 w 1590051"/>
              <a:gd name="connsiteY15" fmla="*/ 223532 h 1315434"/>
              <a:gd name="connsiteX16" fmla="*/ 0 w 1590051"/>
              <a:gd name="connsiteY16" fmla="*/ 699235 h 1315434"/>
              <a:gd name="connsiteX17" fmla="*/ 434247 w 1590051"/>
              <a:gd name="connsiteY17" fmla="*/ 1315434 h 1315434"/>
              <a:gd name="connsiteX18" fmla="*/ 1468686 w 1590051"/>
              <a:gd name="connsiteY18" fmla="*/ 1091964 h 1315434"/>
              <a:gd name="connsiteX19" fmla="*/ 1155804 w 1590051"/>
              <a:gd name="connsiteY19" fmla="*/ 0 h 1315434"/>
              <a:gd name="connsiteX20" fmla="*/ 625766 w 1590051"/>
              <a:gd name="connsiteY20" fmla="*/ 178826 h 1315434"/>
              <a:gd name="connsiteX0" fmla="*/ 625766 w 1590051"/>
              <a:gd name="connsiteY0" fmla="*/ 178826 h 1315434"/>
              <a:gd name="connsiteX1" fmla="*/ 284934 w 1590051"/>
              <a:gd name="connsiteY1" fmla="*/ 458195 h 1315434"/>
              <a:gd name="connsiteX2" fmla="*/ 236288 w 1590051"/>
              <a:gd name="connsiteY2" fmla="*/ 498087 h 1315434"/>
              <a:gd name="connsiteX3" fmla="*/ 70217 w 1590051"/>
              <a:gd name="connsiteY3" fmla="*/ 843983 h 1315434"/>
              <a:gd name="connsiteX4" fmla="*/ 651339 w 1590051"/>
              <a:gd name="connsiteY4" fmla="*/ 1315434 h 1315434"/>
              <a:gd name="connsiteX5" fmla="*/ 1079209 w 1590051"/>
              <a:gd name="connsiteY5" fmla="*/ 1264350 h 1315434"/>
              <a:gd name="connsiteX6" fmla="*/ 1430420 w 1590051"/>
              <a:gd name="connsiteY6" fmla="*/ 957844 h 1315434"/>
              <a:gd name="connsiteX7" fmla="*/ 1590051 w 1590051"/>
              <a:gd name="connsiteY7" fmla="*/ 536415 h 1315434"/>
              <a:gd name="connsiteX8" fmla="*/ 1277105 w 1590051"/>
              <a:gd name="connsiteY8" fmla="*/ 312883 h 1315434"/>
              <a:gd name="connsiteX9" fmla="*/ 913138 w 1590051"/>
              <a:gd name="connsiteY9" fmla="*/ 134119 h 1315434"/>
              <a:gd name="connsiteX10" fmla="*/ 536415 w 1590051"/>
              <a:gd name="connsiteY10" fmla="*/ 83035 h 1315434"/>
              <a:gd name="connsiteX11" fmla="*/ 290641 w 1590051"/>
              <a:gd name="connsiteY11" fmla="*/ 661103 h 1315434"/>
              <a:gd name="connsiteX12" fmla="*/ 344995 w 1590051"/>
              <a:gd name="connsiteY12" fmla="*/ 1019886 h 1315434"/>
              <a:gd name="connsiteX13" fmla="*/ 1245217 w 1590051"/>
              <a:gd name="connsiteY13" fmla="*/ 1289923 h 1315434"/>
              <a:gd name="connsiteX14" fmla="*/ 1519771 w 1590051"/>
              <a:gd name="connsiteY14" fmla="*/ 344834 h 1315434"/>
              <a:gd name="connsiteX15" fmla="*/ 798214 w 1590051"/>
              <a:gd name="connsiteY15" fmla="*/ 223532 h 1315434"/>
              <a:gd name="connsiteX16" fmla="*/ 0 w 1590051"/>
              <a:gd name="connsiteY16" fmla="*/ 699235 h 1315434"/>
              <a:gd name="connsiteX17" fmla="*/ 434247 w 1590051"/>
              <a:gd name="connsiteY17" fmla="*/ 1315434 h 1315434"/>
              <a:gd name="connsiteX18" fmla="*/ 1468686 w 1590051"/>
              <a:gd name="connsiteY18" fmla="*/ 1091964 h 1315434"/>
              <a:gd name="connsiteX19" fmla="*/ 1155804 w 1590051"/>
              <a:gd name="connsiteY19" fmla="*/ 0 h 1315434"/>
              <a:gd name="connsiteX20" fmla="*/ 625766 w 1590051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360203 w 1519834"/>
              <a:gd name="connsiteY6" fmla="*/ 95784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727997 w 1519834"/>
              <a:gd name="connsiteY15" fmla="*/ 22353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360203 w 1519834"/>
              <a:gd name="connsiteY6" fmla="*/ 95784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253523 w 1519834"/>
              <a:gd name="connsiteY6" fmla="*/ 91212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253523 w 1519834"/>
              <a:gd name="connsiteY6" fmla="*/ 91212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428949 w 1519834"/>
              <a:gd name="connsiteY18" fmla="*/ 9395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45914"/>
              <a:gd name="connsiteX1" fmla="*/ 214717 w 1519834"/>
              <a:gd name="connsiteY1" fmla="*/ 458195 h 1345914"/>
              <a:gd name="connsiteX2" fmla="*/ 166071 w 1519834"/>
              <a:gd name="connsiteY2" fmla="*/ 498087 h 1345914"/>
              <a:gd name="connsiteX3" fmla="*/ 0 w 1519834"/>
              <a:gd name="connsiteY3" fmla="*/ 843983 h 1345914"/>
              <a:gd name="connsiteX4" fmla="*/ 741142 w 1519834"/>
              <a:gd name="connsiteY4" fmla="*/ 1345914 h 1345914"/>
              <a:gd name="connsiteX5" fmla="*/ 1008992 w 1519834"/>
              <a:gd name="connsiteY5" fmla="*/ 1264350 h 1345914"/>
              <a:gd name="connsiteX6" fmla="*/ 1253523 w 1519834"/>
              <a:gd name="connsiteY6" fmla="*/ 912124 h 1345914"/>
              <a:gd name="connsiteX7" fmla="*/ 1519834 w 1519834"/>
              <a:gd name="connsiteY7" fmla="*/ 536415 h 1345914"/>
              <a:gd name="connsiteX8" fmla="*/ 1206888 w 1519834"/>
              <a:gd name="connsiteY8" fmla="*/ 312883 h 1345914"/>
              <a:gd name="connsiteX9" fmla="*/ 842921 w 1519834"/>
              <a:gd name="connsiteY9" fmla="*/ 134119 h 1345914"/>
              <a:gd name="connsiteX10" fmla="*/ 466198 w 1519834"/>
              <a:gd name="connsiteY10" fmla="*/ 83035 h 1345914"/>
              <a:gd name="connsiteX11" fmla="*/ 220424 w 1519834"/>
              <a:gd name="connsiteY11" fmla="*/ 661103 h 1345914"/>
              <a:gd name="connsiteX12" fmla="*/ 274778 w 1519834"/>
              <a:gd name="connsiteY12" fmla="*/ 1019886 h 1345914"/>
              <a:gd name="connsiteX13" fmla="*/ 1175000 w 1519834"/>
              <a:gd name="connsiteY13" fmla="*/ 1289923 h 1345914"/>
              <a:gd name="connsiteX14" fmla="*/ 1449554 w 1519834"/>
              <a:gd name="connsiteY14" fmla="*/ 344834 h 1345914"/>
              <a:gd name="connsiteX15" fmla="*/ 331757 w 1519834"/>
              <a:gd name="connsiteY15" fmla="*/ 162572 h 1345914"/>
              <a:gd name="connsiteX16" fmla="*/ 105043 w 1519834"/>
              <a:gd name="connsiteY16" fmla="*/ 722095 h 1345914"/>
              <a:gd name="connsiteX17" fmla="*/ 364030 w 1519834"/>
              <a:gd name="connsiteY17" fmla="*/ 1315434 h 1345914"/>
              <a:gd name="connsiteX18" fmla="*/ 1428949 w 1519834"/>
              <a:gd name="connsiteY18" fmla="*/ 939564 h 1345914"/>
              <a:gd name="connsiteX19" fmla="*/ 1085587 w 1519834"/>
              <a:gd name="connsiteY19" fmla="*/ 0 h 1345914"/>
              <a:gd name="connsiteX20" fmla="*/ 555549 w 1519834"/>
              <a:gd name="connsiteY20" fmla="*/ 178826 h 1345914"/>
              <a:gd name="connsiteX0" fmla="*/ 555549 w 1519834"/>
              <a:gd name="connsiteY0" fmla="*/ 178826 h 1345914"/>
              <a:gd name="connsiteX1" fmla="*/ 214717 w 1519834"/>
              <a:gd name="connsiteY1" fmla="*/ 458195 h 1345914"/>
              <a:gd name="connsiteX2" fmla="*/ 166071 w 1519834"/>
              <a:gd name="connsiteY2" fmla="*/ 498087 h 1345914"/>
              <a:gd name="connsiteX3" fmla="*/ 0 w 1519834"/>
              <a:gd name="connsiteY3" fmla="*/ 843983 h 1345914"/>
              <a:gd name="connsiteX4" fmla="*/ 741142 w 1519834"/>
              <a:gd name="connsiteY4" fmla="*/ 1345914 h 1345914"/>
              <a:gd name="connsiteX5" fmla="*/ 1008992 w 1519834"/>
              <a:gd name="connsiteY5" fmla="*/ 1264350 h 1345914"/>
              <a:gd name="connsiteX6" fmla="*/ 1253523 w 1519834"/>
              <a:gd name="connsiteY6" fmla="*/ 912124 h 1345914"/>
              <a:gd name="connsiteX7" fmla="*/ 1519834 w 1519834"/>
              <a:gd name="connsiteY7" fmla="*/ 536415 h 1345914"/>
              <a:gd name="connsiteX8" fmla="*/ 1206888 w 1519834"/>
              <a:gd name="connsiteY8" fmla="*/ 312883 h 1345914"/>
              <a:gd name="connsiteX9" fmla="*/ 842921 w 1519834"/>
              <a:gd name="connsiteY9" fmla="*/ 134119 h 1345914"/>
              <a:gd name="connsiteX10" fmla="*/ 466198 w 1519834"/>
              <a:gd name="connsiteY10" fmla="*/ 83035 h 1345914"/>
              <a:gd name="connsiteX11" fmla="*/ 220424 w 1519834"/>
              <a:gd name="connsiteY11" fmla="*/ 661103 h 1345914"/>
              <a:gd name="connsiteX12" fmla="*/ 274778 w 1519834"/>
              <a:gd name="connsiteY12" fmla="*/ 1019886 h 1345914"/>
              <a:gd name="connsiteX13" fmla="*/ 1175000 w 1519834"/>
              <a:gd name="connsiteY13" fmla="*/ 1289923 h 1345914"/>
              <a:gd name="connsiteX14" fmla="*/ 1449554 w 1519834"/>
              <a:gd name="connsiteY14" fmla="*/ 344834 h 1345914"/>
              <a:gd name="connsiteX15" fmla="*/ 331757 w 1519834"/>
              <a:gd name="connsiteY15" fmla="*/ 162572 h 1345914"/>
              <a:gd name="connsiteX16" fmla="*/ 105043 w 1519834"/>
              <a:gd name="connsiteY16" fmla="*/ 722095 h 1345914"/>
              <a:gd name="connsiteX17" fmla="*/ 356410 w 1519834"/>
              <a:gd name="connsiteY17" fmla="*/ 1246854 h 1345914"/>
              <a:gd name="connsiteX18" fmla="*/ 1428949 w 1519834"/>
              <a:gd name="connsiteY18" fmla="*/ 939564 h 1345914"/>
              <a:gd name="connsiteX19" fmla="*/ 1085587 w 1519834"/>
              <a:gd name="connsiteY19" fmla="*/ 0 h 1345914"/>
              <a:gd name="connsiteX20" fmla="*/ 555549 w 1519834"/>
              <a:gd name="connsiteY20" fmla="*/ 178826 h 1345914"/>
              <a:gd name="connsiteX0" fmla="*/ 555549 w 1519834"/>
              <a:gd name="connsiteY0" fmla="*/ 95791 h 1262879"/>
              <a:gd name="connsiteX1" fmla="*/ 214717 w 1519834"/>
              <a:gd name="connsiteY1" fmla="*/ 375160 h 1262879"/>
              <a:gd name="connsiteX2" fmla="*/ 166071 w 1519834"/>
              <a:gd name="connsiteY2" fmla="*/ 415052 h 1262879"/>
              <a:gd name="connsiteX3" fmla="*/ 0 w 1519834"/>
              <a:gd name="connsiteY3" fmla="*/ 760948 h 1262879"/>
              <a:gd name="connsiteX4" fmla="*/ 741142 w 1519834"/>
              <a:gd name="connsiteY4" fmla="*/ 1262879 h 1262879"/>
              <a:gd name="connsiteX5" fmla="*/ 1008992 w 1519834"/>
              <a:gd name="connsiteY5" fmla="*/ 1181315 h 1262879"/>
              <a:gd name="connsiteX6" fmla="*/ 1253523 w 1519834"/>
              <a:gd name="connsiteY6" fmla="*/ 829089 h 1262879"/>
              <a:gd name="connsiteX7" fmla="*/ 1519834 w 1519834"/>
              <a:gd name="connsiteY7" fmla="*/ 453380 h 1262879"/>
              <a:gd name="connsiteX8" fmla="*/ 1206888 w 1519834"/>
              <a:gd name="connsiteY8" fmla="*/ 229848 h 1262879"/>
              <a:gd name="connsiteX9" fmla="*/ 842921 w 1519834"/>
              <a:gd name="connsiteY9" fmla="*/ 51084 h 1262879"/>
              <a:gd name="connsiteX10" fmla="*/ 466198 w 1519834"/>
              <a:gd name="connsiteY10" fmla="*/ 0 h 1262879"/>
              <a:gd name="connsiteX11" fmla="*/ 220424 w 1519834"/>
              <a:gd name="connsiteY11" fmla="*/ 578068 h 1262879"/>
              <a:gd name="connsiteX12" fmla="*/ 274778 w 1519834"/>
              <a:gd name="connsiteY12" fmla="*/ 936851 h 1262879"/>
              <a:gd name="connsiteX13" fmla="*/ 1175000 w 1519834"/>
              <a:gd name="connsiteY13" fmla="*/ 1206888 h 1262879"/>
              <a:gd name="connsiteX14" fmla="*/ 1449554 w 1519834"/>
              <a:gd name="connsiteY14" fmla="*/ 261799 h 1262879"/>
              <a:gd name="connsiteX15" fmla="*/ 331757 w 1519834"/>
              <a:gd name="connsiteY15" fmla="*/ 79537 h 1262879"/>
              <a:gd name="connsiteX16" fmla="*/ 105043 w 1519834"/>
              <a:gd name="connsiteY16" fmla="*/ 639060 h 1262879"/>
              <a:gd name="connsiteX17" fmla="*/ 356410 w 1519834"/>
              <a:gd name="connsiteY17" fmla="*/ 1163819 h 1262879"/>
              <a:gd name="connsiteX18" fmla="*/ 1428949 w 1519834"/>
              <a:gd name="connsiteY18" fmla="*/ 856529 h 1262879"/>
              <a:gd name="connsiteX19" fmla="*/ 1055107 w 1519834"/>
              <a:gd name="connsiteY19" fmla="*/ 61745 h 1262879"/>
              <a:gd name="connsiteX20" fmla="*/ 555549 w 1519834"/>
              <a:gd name="connsiteY20" fmla="*/ 95791 h 1262879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428949 w 1519834"/>
              <a:gd name="connsiteY18" fmla="*/ 856529 h 1268594"/>
              <a:gd name="connsiteX19" fmla="*/ 1055107 w 1519834"/>
              <a:gd name="connsiteY19" fmla="*/ 61745 h 1268594"/>
              <a:gd name="connsiteX20" fmla="*/ 555549 w 1519834"/>
              <a:gd name="connsiteY20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055107 w 1519834"/>
              <a:gd name="connsiteY19" fmla="*/ 61745 h 1268594"/>
              <a:gd name="connsiteX20" fmla="*/ 555549 w 1519834"/>
              <a:gd name="connsiteY20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203699 w 1519834"/>
              <a:gd name="connsiteY19" fmla="*/ 489226 h 1268594"/>
              <a:gd name="connsiteX20" fmla="*/ 1055107 w 1519834"/>
              <a:gd name="connsiteY20" fmla="*/ 61745 h 1268594"/>
              <a:gd name="connsiteX21" fmla="*/ 555549 w 1519834"/>
              <a:gd name="connsiteY21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489449 w 1519834"/>
              <a:gd name="connsiteY19" fmla="*/ 641626 h 1268594"/>
              <a:gd name="connsiteX20" fmla="*/ 1055107 w 1519834"/>
              <a:gd name="connsiteY20" fmla="*/ 61745 h 1268594"/>
              <a:gd name="connsiteX21" fmla="*/ 555549 w 1519834"/>
              <a:gd name="connsiteY21" fmla="*/ 95791 h 1268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519834" h="1268594">
                <a:moveTo>
                  <a:pt x="555549" y="95791"/>
                </a:moveTo>
                <a:lnTo>
                  <a:pt x="214717" y="375160"/>
                </a:lnTo>
                <a:lnTo>
                  <a:pt x="166071" y="415052"/>
                </a:lnTo>
                <a:lnTo>
                  <a:pt x="0" y="760948"/>
                </a:lnTo>
                <a:lnTo>
                  <a:pt x="741142" y="1262879"/>
                </a:lnTo>
                <a:lnTo>
                  <a:pt x="1008992" y="1181315"/>
                </a:lnTo>
                <a:lnTo>
                  <a:pt x="1253523" y="829089"/>
                </a:lnTo>
                <a:lnTo>
                  <a:pt x="1519834" y="453380"/>
                </a:lnTo>
                <a:lnTo>
                  <a:pt x="1206888" y="229848"/>
                </a:lnTo>
                <a:lnTo>
                  <a:pt x="842921" y="51084"/>
                </a:lnTo>
                <a:lnTo>
                  <a:pt x="466198" y="0"/>
                </a:lnTo>
                <a:lnTo>
                  <a:pt x="220424" y="578068"/>
                </a:lnTo>
                <a:lnTo>
                  <a:pt x="274778" y="936851"/>
                </a:lnTo>
                <a:lnTo>
                  <a:pt x="1175000" y="1206888"/>
                </a:lnTo>
                <a:lnTo>
                  <a:pt x="1449554" y="261799"/>
                </a:lnTo>
                <a:lnTo>
                  <a:pt x="331757" y="79537"/>
                </a:lnTo>
                <a:lnTo>
                  <a:pt x="105043" y="639060"/>
                </a:lnTo>
                <a:lnTo>
                  <a:pt x="489760" y="1268594"/>
                </a:lnTo>
                <a:lnTo>
                  <a:pt x="1371799" y="989879"/>
                </a:lnTo>
                <a:lnTo>
                  <a:pt x="1489449" y="641626"/>
                </a:lnTo>
                <a:lnTo>
                  <a:pt x="1055107" y="61745"/>
                </a:lnTo>
                <a:lnTo>
                  <a:pt x="555549" y="95791"/>
                </a:lnTo>
                <a:close/>
              </a:path>
            </a:pathLst>
          </a:custGeom>
          <a:noFill/>
          <a:ln w="3175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pPr rtl="0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173967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605AF1-623C-4E09-AB5D-8DD057148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0169" y="1152771"/>
            <a:ext cx="5431971" cy="846301"/>
          </a:xfrm>
        </p:spPr>
        <p:txBody>
          <a:bodyPr rtlCol="0"/>
          <a:lstStyle/>
          <a:p>
            <a:pPr rtl="0"/>
            <a:r>
              <a:rPr lang="es-ES"/>
              <a:t>Estrategia de crecimiento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B1DDDEF-20C4-4F65-BAC9-0A763DF7E0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254" y="2469515"/>
            <a:ext cx="5433204" cy="36512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rtl="0"/>
            <a:r>
              <a:rPr lang="es-ES"/>
              <a:t>Feb. 20XX</a:t>
            </a:r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24158E79-DA49-4521-BEC6-A7BA93C41F4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/>
          <a:p>
            <a:pPr rtl="0"/>
            <a:r>
              <a:rPr lang="es-ES"/>
              <a:t>Implementar el producto en participantes de alto perfil o nivel para ayudar a establecer el producto.</a:t>
            </a:r>
          </a:p>
        </p:txBody>
      </p:sp>
      <p:sp>
        <p:nvSpPr>
          <p:cNvPr id="24" name="Marcador de texto 23">
            <a:extLst>
              <a:ext uri="{FF2B5EF4-FFF2-40B4-BE49-F238E27FC236}">
                <a16:creationId xmlns:a16="http://schemas.microsoft.com/office/drawing/2014/main" id="{319E41BC-4F05-4804-843A-E1846794FBF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 lnSpcReduction="10000"/>
          </a:bodyPr>
          <a:lstStyle/>
          <a:p>
            <a:pPr rtl="0"/>
            <a:r>
              <a:rPr lang="es-ES"/>
              <a:t>Mzo. 20XX</a:t>
            </a:r>
          </a:p>
        </p:txBody>
      </p:sp>
      <p:sp>
        <p:nvSpPr>
          <p:cNvPr id="25" name="Marcador de texto 24">
            <a:extLst>
              <a:ext uri="{FF2B5EF4-FFF2-40B4-BE49-F238E27FC236}">
                <a16:creationId xmlns:a16="http://schemas.microsoft.com/office/drawing/2014/main" id="{23BDF8B9-53DF-46F4-98D4-053D78D610B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921828" y="3898736"/>
            <a:ext cx="5431971" cy="557950"/>
          </a:xfrm>
        </p:spPr>
        <p:txBody>
          <a:bodyPr rtlCol="0"/>
          <a:lstStyle/>
          <a:p>
            <a:pPr rtl="0"/>
            <a:r>
              <a:rPr lang="es-ES"/>
              <a:t>Lanzar el producto para el público general y supervisar las notas de prensa y las cuentas de redes sociales.</a:t>
            </a:r>
          </a:p>
        </p:txBody>
      </p:sp>
      <p:sp>
        <p:nvSpPr>
          <p:cNvPr id="26" name="Marcador de texto 25">
            <a:extLst>
              <a:ext uri="{FF2B5EF4-FFF2-40B4-BE49-F238E27FC236}">
                <a16:creationId xmlns:a16="http://schemas.microsoft.com/office/drawing/2014/main" id="{0FD0A14C-4421-4979-AF8C-F7E649A8816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 lnSpcReduction="10000"/>
          </a:bodyPr>
          <a:lstStyle/>
          <a:p>
            <a:pPr rtl="0"/>
            <a:r>
              <a:rPr lang="es-ES"/>
              <a:t>Oct. 20XX</a:t>
            </a:r>
          </a:p>
        </p:txBody>
      </p:sp>
      <p:sp>
        <p:nvSpPr>
          <p:cNvPr id="27" name="Marcador de texto 26">
            <a:extLst>
              <a:ext uri="{FF2B5EF4-FFF2-40B4-BE49-F238E27FC236}">
                <a16:creationId xmlns:a16="http://schemas.microsoft.com/office/drawing/2014/main" id="{9C0DB469-503B-40AF-84D1-C69B085AA96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/>
          <a:p>
            <a:pPr rtl="0"/>
            <a:r>
              <a:rPr lang="es-ES"/>
              <a:t>Recopilar comentarios y ajustar el diseño del producto según sea necesario.</a:t>
            </a:r>
          </a:p>
          <a:p>
            <a:pPr rtl="0"/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FDC0E0A-2715-4BF9-8659-0ED8629BA2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s-ES"/>
              <a:t>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0E75224-81EB-4CDA-BBBE-44B4B2F3C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s-ES"/>
              <a:t>Presentación de lanzamiento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A32F697-D1D4-4B0A-B960-D1869BF86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s-ES" smtClean="0"/>
              <a:pPr rtl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721061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971188AF-1B8F-40DD-90B1-DC0F52BA4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lIns="0" rtlCol="0"/>
          <a:lstStyle/>
          <a:p>
            <a:pPr rtl="0"/>
            <a:r>
              <a:rPr lang="es-ES" dirty="0"/>
              <a:t>AVANCE</a:t>
            </a:r>
          </a:p>
        </p:txBody>
      </p:sp>
      <p:sp>
        <p:nvSpPr>
          <p:cNvPr id="75" name="Marcador de texto 74">
            <a:extLst>
              <a:ext uri="{FF2B5EF4-FFF2-40B4-BE49-F238E27FC236}">
                <a16:creationId xmlns:a16="http://schemas.microsoft.com/office/drawing/2014/main" id="{5425916A-A2C0-45C3-9A48-E48DEB97F63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48749" y="1361938"/>
            <a:ext cx="6765925" cy="496888"/>
          </a:xfrm>
        </p:spPr>
        <p:txBody>
          <a:bodyPr rtlCol="0"/>
          <a:lstStyle/>
          <a:p>
            <a:pPr rtl="0"/>
            <a:r>
              <a:rPr lang="es-ES" dirty="0"/>
              <a:t>Previsión para lograr nuestro objetivo</a:t>
            </a:r>
          </a:p>
        </p:txBody>
      </p:sp>
      <p:graphicFrame>
        <p:nvGraphicFramePr>
          <p:cNvPr id="53" name="Tabla 50">
            <a:extLst>
              <a:ext uri="{FF2B5EF4-FFF2-40B4-BE49-F238E27FC236}">
                <a16:creationId xmlns:a16="http://schemas.microsoft.com/office/drawing/2014/main" id="{7EB17215-3702-4854-86F9-086DB8BCA17E}"/>
              </a:ext>
            </a:extLst>
          </p:cNvPr>
          <p:cNvGraphicFramePr>
            <a:graphicFrameLocks noGrp="1"/>
          </p:cNvGraphicFramePr>
          <p:nvPr>
            <p:ph type="chart" sz="quarter" idx="13"/>
            <p:extLst>
              <p:ext uri="{D42A27DB-BD31-4B8C-83A1-F6EECF244321}">
                <p14:modId xmlns:p14="http://schemas.microsoft.com/office/powerpoint/2010/main" val="1431362577"/>
              </p:ext>
            </p:extLst>
          </p:nvPr>
        </p:nvGraphicFramePr>
        <p:xfrm>
          <a:off x="838200" y="2286000"/>
          <a:ext cx="6099051" cy="37130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8631">
                  <a:extLst>
                    <a:ext uri="{9D8B030D-6E8A-4147-A177-3AD203B41FA5}">
                      <a16:colId xmlns:a16="http://schemas.microsoft.com/office/drawing/2014/main" val="544038161"/>
                    </a:ext>
                  </a:extLst>
                </a:gridCol>
                <a:gridCol w="1130105">
                  <a:extLst>
                    <a:ext uri="{9D8B030D-6E8A-4147-A177-3AD203B41FA5}">
                      <a16:colId xmlns:a16="http://schemas.microsoft.com/office/drawing/2014/main" val="2284043154"/>
                    </a:ext>
                  </a:extLst>
                </a:gridCol>
                <a:gridCol w="1130105">
                  <a:extLst>
                    <a:ext uri="{9D8B030D-6E8A-4147-A177-3AD203B41FA5}">
                      <a16:colId xmlns:a16="http://schemas.microsoft.com/office/drawing/2014/main" val="2987712514"/>
                    </a:ext>
                  </a:extLst>
                </a:gridCol>
                <a:gridCol w="1130105">
                  <a:extLst>
                    <a:ext uri="{9D8B030D-6E8A-4147-A177-3AD203B41FA5}">
                      <a16:colId xmlns:a16="http://schemas.microsoft.com/office/drawing/2014/main" val="1068233346"/>
                    </a:ext>
                  </a:extLst>
                </a:gridCol>
                <a:gridCol w="1130105">
                  <a:extLst>
                    <a:ext uri="{9D8B030D-6E8A-4147-A177-3AD203B41FA5}">
                      <a16:colId xmlns:a16="http://schemas.microsoft.com/office/drawing/2014/main" val="3019130451"/>
                    </a:ext>
                  </a:extLst>
                </a:gridCol>
              </a:tblGrid>
              <a:tr h="308774">
                <a:tc>
                  <a:txBody>
                    <a:bodyPr/>
                    <a:lstStyle/>
                    <a:p>
                      <a:pPr algn="r" rtl="0"/>
                      <a:r>
                        <a:rPr lang="es-ES" sz="1400" b="0" cap="all" spc="150" noProof="0">
                          <a:solidFill>
                            <a:schemeClr val="bg1"/>
                          </a:solidFill>
                          <a:latin typeface="+mj-lt"/>
                        </a:rPr>
                        <a:t>Métricas clave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s-ES" sz="1400" b="0" cap="all" spc="150" baseline="0" noProof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s-ES" sz="1400" b="0" cap="all" spc="150" baseline="0" noProof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s-ES" sz="1400" b="0" cap="all" spc="150" baseline="0" noProof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s-ES" sz="1400" b="0" cap="all" spc="150" baseline="0" noProof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3065677"/>
                  </a:ext>
                </a:extLst>
              </a:tr>
              <a:tr h="638982">
                <a:tc>
                  <a:txBody>
                    <a:bodyPr/>
                    <a:lstStyle/>
                    <a:p>
                      <a:pPr algn="ctr" rtl="0"/>
                      <a:endParaRPr lang="es-ES" sz="1200" noProof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s-ES" sz="1200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Clientes</a:t>
                      </a: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s-ES" sz="1200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Pedidos</a:t>
                      </a: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s-ES" sz="1200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Ingresos brutos</a:t>
                      </a: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s-ES" sz="1200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Ingresos netos</a:t>
                      </a: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137574"/>
                  </a:ext>
                </a:extLst>
              </a:tr>
              <a:tr h="638982">
                <a:tc>
                  <a:txBody>
                    <a:bodyPr/>
                    <a:lstStyle/>
                    <a:p>
                      <a:pPr algn="ctr" rtl="0"/>
                      <a:r>
                        <a:rPr lang="es-ES" sz="1200" noProof="0">
                          <a:solidFill>
                            <a:schemeClr val="tx1"/>
                          </a:solidFill>
                        </a:rPr>
                        <a:t>20XX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s-ES" sz="1200" noProof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s-ES" sz="1200" noProof="0">
                          <a:solidFill>
                            <a:schemeClr val="tx1"/>
                          </a:solidFill>
                        </a:rPr>
                        <a:t>1100</a:t>
                      </a: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s-ES" sz="1200" noProof="0">
                          <a:solidFill>
                            <a:schemeClr val="tx1"/>
                          </a:solidFill>
                        </a:rPr>
                        <a:t>10.000 €</a:t>
                      </a: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s-ES" sz="1200" noProof="0">
                          <a:solidFill>
                            <a:schemeClr val="tx1"/>
                          </a:solidFill>
                        </a:rPr>
                        <a:t>7.000 €</a:t>
                      </a: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7742485"/>
                  </a:ext>
                </a:extLst>
              </a:tr>
              <a:tr h="638982">
                <a:tc>
                  <a:txBody>
                    <a:bodyPr/>
                    <a:lstStyle/>
                    <a:p>
                      <a:pPr algn="ctr" rtl="0"/>
                      <a:r>
                        <a:rPr lang="es-ES" sz="1200" noProof="0">
                          <a:solidFill>
                            <a:schemeClr val="tx1"/>
                          </a:solidFill>
                        </a:rPr>
                        <a:t>20XX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s-ES" sz="1200" noProof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s-ES" sz="1200" noProof="0">
                          <a:solidFill>
                            <a:schemeClr val="tx1"/>
                          </a:solidFill>
                        </a:rPr>
                        <a:t>200</a:t>
                      </a: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noProof="0">
                          <a:solidFill>
                            <a:schemeClr val="tx1"/>
                          </a:solidFill>
                        </a:rPr>
                        <a:t>20.000 €</a:t>
                      </a: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noProof="0">
                          <a:solidFill>
                            <a:schemeClr val="tx1"/>
                          </a:solidFill>
                        </a:rPr>
                        <a:t>16.000 €</a:t>
                      </a: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6860975"/>
                  </a:ext>
                </a:extLst>
              </a:tr>
              <a:tr h="638982">
                <a:tc>
                  <a:txBody>
                    <a:bodyPr/>
                    <a:lstStyle/>
                    <a:p>
                      <a:pPr algn="ctr" rtl="0"/>
                      <a:r>
                        <a:rPr lang="es-ES" sz="1200" noProof="0">
                          <a:solidFill>
                            <a:schemeClr val="tx1"/>
                          </a:solidFill>
                        </a:rPr>
                        <a:t>20XX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s-ES" sz="1200" noProof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s-ES" sz="1200" noProof="0">
                          <a:solidFill>
                            <a:schemeClr val="tx1"/>
                          </a:solidFill>
                        </a:rPr>
                        <a:t>300</a:t>
                      </a: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noProof="0">
                          <a:solidFill>
                            <a:schemeClr val="tx1"/>
                          </a:solidFill>
                        </a:rPr>
                        <a:t>30.000 €</a:t>
                      </a: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noProof="0">
                          <a:solidFill>
                            <a:schemeClr val="tx1"/>
                          </a:solidFill>
                        </a:rPr>
                        <a:t>25.000 €</a:t>
                      </a: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5121222"/>
                  </a:ext>
                </a:extLst>
              </a:tr>
              <a:tr h="638982">
                <a:tc>
                  <a:txBody>
                    <a:bodyPr/>
                    <a:lstStyle/>
                    <a:p>
                      <a:pPr algn="ctr" rtl="0"/>
                      <a:r>
                        <a:rPr lang="es-ES" sz="1200" noProof="0">
                          <a:solidFill>
                            <a:schemeClr val="tx1"/>
                          </a:solidFill>
                        </a:rPr>
                        <a:t>20XX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s-ES" sz="1200" noProof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s-ES" sz="1200" noProof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noProof="0">
                          <a:solidFill>
                            <a:schemeClr val="tx1"/>
                          </a:solidFill>
                        </a:rPr>
                        <a:t>40.000 €</a:t>
                      </a: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noProof="0" dirty="0">
                          <a:solidFill>
                            <a:schemeClr val="tx1"/>
                          </a:solidFill>
                        </a:rPr>
                        <a:t>30.000 €</a:t>
                      </a:r>
                    </a:p>
                  </a:txBody>
                  <a:tcPr marL="95186" marR="95186" marT="47593" marB="4759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123171"/>
                  </a:ext>
                </a:extLst>
              </a:tr>
            </a:tbl>
          </a:graphicData>
        </a:graphic>
      </p:graphicFrame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C54CD4A7-4E1A-4902-993B-81A396A3670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58125" y="2284624"/>
            <a:ext cx="3147332" cy="306388"/>
          </a:xfrm>
        </p:spPr>
        <p:txBody>
          <a:bodyPr rtlCol="0">
            <a:normAutofit/>
          </a:bodyPr>
          <a:lstStyle/>
          <a:p>
            <a:pPr rtl="0"/>
            <a:r>
              <a:rPr lang="es-ES" dirty="0"/>
              <a:t>INGRESOS ANUALES</a:t>
            </a:r>
          </a:p>
        </p:txBody>
      </p:sp>
      <p:graphicFrame>
        <p:nvGraphicFramePr>
          <p:cNvPr id="34" name="Marcador de contenido 13" descr="Gráfico">
            <a:extLst>
              <a:ext uri="{FF2B5EF4-FFF2-40B4-BE49-F238E27FC236}">
                <a16:creationId xmlns:a16="http://schemas.microsoft.com/office/drawing/2014/main" id="{9E19FFD2-695D-4BD0-AA46-41C8970D76E2}"/>
              </a:ext>
            </a:extLst>
          </p:cNvPr>
          <p:cNvGraphicFramePr>
            <a:graphicFrameLocks noGrp="1"/>
          </p:cNvGraphicFramePr>
          <p:nvPr>
            <p:ph sz="quarter" idx="15"/>
            <p:extLst>
              <p:ext uri="{D42A27DB-BD31-4B8C-83A1-F6EECF244321}">
                <p14:modId xmlns:p14="http://schemas.microsoft.com/office/powerpoint/2010/main" val="2646833262"/>
              </p:ext>
            </p:extLst>
          </p:nvPr>
        </p:nvGraphicFramePr>
        <p:xfrm>
          <a:off x="7858125" y="2779713"/>
          <a:ext cx="3148013" cy="3095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02600B4-5BE8-447C-8531-6CD75CB457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s-ES" dirty="0"/>
              <a:t>20XX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17076FA-2B16-4A6F-9631-8D175CE78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s-ES" dirty="0"/>
              <a:t>Presentación de lanzamiento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088B044-C125-4F21-B6E1-ECBEB9762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s-ES" smtClean="0"/>
              <a:pPr rtl="0"/>
              <a:t>16</a:t>
            </a:fld>
            <a:endParaRPr lang="es-ES" dirty="0"/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B98F823A-E7BB-4668-930B-C119B7771E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0178143" y="0"/>
            <a:ext cx="2013857" cy="14151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5173C4F3-0B20-4720-9910-82CE4DCE4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752114" y="0"/>
            <a:ext cx="3439886" cy="5769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09350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0">
            <a:extLst>
              <a:ext uri="{FF2B5EF4-FFF2-40B4-BE49-F238E27FC236}">
                <a16:creationId xmlns:a16="http://schemas.microsoft.com/office/drawing/2014/main" id="{B1B29E87-9C2C-400B-834D-4E4BD6E94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rtlCol="0" anchor="ctr">
            <a:normAutofit/>
          </a:bodyPr>
          <a:lstStyle/>
          <a:p>
            <a:pPr rtl="0"/>
            <a:r>
              <a:rPr lang="es-ES"/>
              <a:t>FINANZAS</a:t>
            </a:r>
          </a:p>
        </p:txBody>
      </p:sp>
      <p:graphicFrame>
        <p:nvGraphicFramePr>
          <p:cNvPr id="17" name="Tabla 9">
            <a:extLst>
              <a:ext uri="{FF2B5EF4-FFF2-40B4-BE49-F238E27FC236}">
                <a16:creationId xmlns:a16="http://schemas.microsoft.com/office/drawing/2014/main" id="{CD227AD3-0512-4367-9783-E5F086A86CF5}"/>
              </a:ext>
            </a:extLst>
          </p:cNvPr>
          <p:cNvGraphicFramePr>
            <a:graphicFrameLocks noGrp="1"/>
          </p:cNvGraphicFramePr>
          <p:nvPr>
            <p:ph type="dgm" sz="quarter" idx="15"/>
            <p:extLst>
              <p:ext uri="{D42A27DB-BD31-4B8C-83A1-F6EECF244321}">
                <p14:modId xmlns:p14="http://schemas.microsoft.com/office/powerpoint/2010/main" val="1296501112"/>
              </p:ext>
            </p:extLst>
          </p:nvPr>
        </p:nvGraphicFramePr>
        <p:xfrm>
          <a:off x="838200" y="2138363"/>
          <a:ext cx="10515596" cy="37011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5076">
                  <a:extLst>
                    <a:ext uri="{9D8B030D-6E8A-4147-A177-3AD203B41FA5}">
                      <a16:colId xmlns:a16="http://schemas.microsoft.com/office/drawing/2014/main" val="3446012419"/>
                    </a:ext>
                  </a:extLst>
                </a:gridCol>
                <a:gridCol w="1717424">
                  <a:extLst>
                    <a:ext uri="{9D8B030D-6E8A-4147-A177-3AD203B41FA5}">
                      <a16:colId xmlns:a16="http://schemas.microsoft.com/office/drawing/2014/main" val="4052646397"/>
                    </a:ext>
                  </a:extLst>
                </a:gridCol>
                <a:gridCol w="2118664">
                  <a:extLst>
                    <a:ext uri="{9D8B030D-6E8A-4147-A177-3AD203B41FA5}">
                      <a16:colId xmlns:a16="http://schemas.microsoft.com/office/drawing/2014/main" val="1935352797"/>
                    </a:ext>
                  </a:extLst>
                </a:gridCol>
                <a:gridCol w="2277791">
                  <a:extLst>
                    <a:ext uri="{9D8B030D-6E8A-4147-A177-3AD203B41FA5}">
                      <a16:colId xmlns:a16="http://schemas.microsoft.com/office/drawing/2014/main" val="1218263486"/>
                    </a:ext>
                  </a:extLst>
                </a:gridCol>
                <a:gridCol w="1166641">
                  <a:extLst>
                    <a:ext uri="{9D8B030D-6E8A-4147-A177-3AD203B41FA5}">
                      <a16:colId xmlns:a16="http://schemas.microsoft.com/office/drawing/2014/main" val="3235153012"/>
                    </a:ext>
                  </a:extLst>
                </a:gridCol>
              </a:tblGrid>
              <a:tr h="284706">
                <a:tc>
                  <a:txBody>
                    <a:bodyPr/>
                    <a:lstStyle/>
                    <a:p>
                      <a:pPr algn="l" rtl="0" fontAlgn="b"/>
                      <a:endParaRPr lang="es-ES" sz="1200" b="0" i="0" u="none" strike="noStrike" noProof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24019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ES" sz="1200" b="1" u="none" strike="noStrike" noProof="0">
                          <a:solidFill>
                            <a:schemeClr val="bg1"/>
                          </a:solidFill>
                          <a:effectLst/>
                        </a:rPr>
                        <a:t>Año 1</a:t>
                      </a:r>
                      <a:endParaRPr lang="es-ES" sz="1200" b="1" i="0" u="none" strike="noStrike" noProof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ES" sz="1200" b="1" u="none" strike="noStrike" noProof="0">
                          <a:solidFill>
                            <a:schemeClr val="bg1"/>
                          </a:solidFill>
                          <a:effectLst/>
                        </a:rPr>
                        <a:t>Año 2</a:t>
                      </a:r>
                      <a:endParaRPr lang="es-ES" sz="1200" b="1" i="0" u="none" strike="noStrike" noProof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ES" sz="1200" b="1" u="none" strike="noStrike" noProof="0">
                          <a:solidFill>
                            <a:schemeClr val="bg1"/>
                          </a:solidFill>
                          <a:effectLst/>
                        </a:rPr>
                        <a:t>Año 3</a:t>
                      </a:r>
                      <a:endParaRPr lang="es-ES" sz="1200" b="1" i="0" u="none" strike="noStrike" noProof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s-ES" sz="1200" b="0" i="0" u="none" strike="noStrike" noProof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0773105"/>
                  </a:ext>
                </a:extLst>
              </a:tr>
              <a:tr h="284706"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200" b="0" i="0" u="none" strike="noStrike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INGRESOS</a:t>
                      </a:r>
                    </a:p>
                  </a:txBody>
                  <a:tcPr marL="24019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2911372"/>
                  </a:ext>
                </a:extLst>
              </a:tr>
              <a:tr h="284706">
                <a:tc>
                  <a:txBody>
                    <a:bodyPr/>
                    <a:lstStyle/>
                    <a:p>
                      <a:pPr lvl="1" algn="l" rtl="0" fontAlgn="b"/>
                      <a:r>
                        <a:rPr lang="es-ES" sz="1200" b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Usuarios</a:t>
                      </a:r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4019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ES" sz="1200" b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50.000</a:t>
                      </a:r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ES" sz="1200" b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400.000</a:t>
                      </a:r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ES" sz="1200" b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1.600.000</a:t>
                      </a:r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3393929"/>
                  </a:ext>
                </a:extLst>
              </a:tr>
              <a:tr h="284706">
                <a:tc>
                  <a:txBody>
                    <a:bodyPr/>
                    <a:lstStyle/>
                    <a:p>
                      <a:pPr lvl="1" algn="l" rtl="0" fontAlgn="b"/>
                      <a:r>
                        <a:rPr lang="es-ES" sz="1200" b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Ventas</a:t>
                      </a:r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4019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ES" sz="1200" b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500.000</a:t>
                      </a:r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ES" sz="1200" b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4.000.000</a:t>
                      </a:r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ES" sz="1200" b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16.000.000</a:t>
                      </a:r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711469"/>
                  </a:ext>
                </a:extLst>
              </a:tr>
              <a:tr h="284706">
                <a:tc>
                  <a:txBody>
                    <a:bodyPr/>
                    <a:lstStyle/>
                    <a:p>
                      <a:pPr lvl="1" algn="l" rtl="0" fontAlgn="b"/>
                      <a:r>
                        <a:rPr lang="es-ES" sz="1200" b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Precio medio por venta</a:t>
                      </a:r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4019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ES" sz="1200" b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75</a:t>
                      </a:r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ES" sz="1200" b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80</a:t>
                      </a:r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ES" sz="1200" b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90</a:t>
                      </a:r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8944196"/>
                  </a:ext>
                </a:extLst>
              </a:tr>
              <a:tr h="284706">
                <a:tc>
                  <a:txBody>
                    <a:bodyPr/>
                    <a:lstStyle/>
                    <a:p>
                      <a:pPr lvl="1" algn="l" rtl="0" fontAlgn="b"/>
                      <a:r>
                        <a:rPr lang="es-ES" sz="1200" b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15 % de los ingresos</a:t>
                      </a:r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4019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ES" sz="1200" b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5.625.000</a:t>
                      </a:r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ES" sz="1200" b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48.000.000</a:t>
                      </a:r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ES" sz="1200" b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216.000.000</a:t>
                      </a:r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1606819"/>
                  </a:ext>
                </a:extLst>
              </a:tr>
              <a:tr h="284706"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200" b="1" u="none" strike="noStrike" noProof="0">
                          <a:solidFill>
                            <a:schemeClr val="tx1"/>
                          </a:solidFill>
                          <a:effectLst/>
                        </a:rPr>
                        <a:t>BENEFICIO BRUTO</a:t>
                      </a:r>
                      <a:endParaRPr lang="es-ES" sz="1200" b="1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4019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ES" sz="1200" b="1" u="none" strike="noStrike" noProof="0">
                          <a:solidFill>
                            <a:schemeClr val="tx1"/>
                          </a:solidFill>
                          <a:effectLst/>
                        </a:rPr>
                        <a:t>5.625.000</a:t>
                      </a:r>
                      <a:endParaRPr lang="es-ES" sz="1200" b="1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ES" sz="1200" b="1" u="none" strike="noStrike" noProof="0">
                          <a:solidFill>
                            <a:schemeClr val="tx1"/>
                          </a:solidFill>
                          <a:effectLst/>
                        </a:rPr>
                        <a:t>48.000.000</a:t>
                      </a:r>
                      <a:endParaRPr lang="es-ES" sz="1200" b="1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ES" sz="1200" b="1" u="none" strike="noStrike" noProof="0">
                          <a:solidFill>
                            <a:schemeClr val="tx1"/>
                          </a:solidFill>
                          <a:effectLst/>
                        </a:rPr>
                        <a:t>216.000.000</a:t>
                      </a:r>
                      <a:endParaRPr lang="es-ES" sz="1200" b="1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120011"/>
                  </a:ext>
                </a:extLst>
              </a:tr>
              <a:tr h="284706"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200" b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Gastos</a:t>
                      </a:r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4019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1422160"/>
                  </a:ext>
                </a:extLst>
              </a:tr>
              <a:tr h="284706">
                <a:tc>
                  <a:txBody>
                    <a:bodyPr/>
                    <a:lstStyle/>
                    <a:p>
                      <a:pPr marL="457200" lvl="1" indent="0" algn="l" rtl="0" fontAlgn="b">
                        <a:buFont typeface="Arial" panose="020B0604020202020204" pitchFamily="34" charset="0"/>
                        <a:buNone/>
                      </a:pPr>
                      <a:r>
                        <a:rPr lang="es-ES" sz="1200" b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Ventas y marketing</a:t>
                      </a:r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4019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ES" sz="1200" b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5.062.500</a:t>
                      </a:r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ES" sz="1200" b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38.400.000</a:t>
                      </a:r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ES" sz="1200" b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151.200.000</a:t>
                      </a:r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200" b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70 %</a:t>
                      </a:r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2407092"/>
                  </a:ext>
                </a:extLst>
              </a:tr>
              <a:tr h="284706">
                <a:tc>
                  <a:txBody>
                    <a:bodyPr/>
                    <a:lstStyle/>
                    <a:p>
                      <a:pPr marL="457200" lvl="1" indent="0" algn="l" rtl="0" fontAlgn="b">
                        <a:buFont typeface="Arial" panose="020B0604020202020204" pitchFamily="34" charset="0"/>
                        <a:buNone/>
                      </a:pPr>
                      <a:r>
                        <a:rPr lang="es-ES" sz="1200" b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Atención al cliente</a:t>
                      </a:r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4019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ES" sz="1200" b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1.687.500</a:t>
                      </a:r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ES" sz="1200" b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9.600.000</a:t>
                      </a:r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ES" sz="1200" b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21.600.000</a:t>
                      </a:r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200" b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10 %</a:t>
                      </a:r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6368409"/>
                  </a:ext>
                </a:extLst>
              </a:tr>
              <a:tr h="284706">
                <a:tc>
                  <a:txBody>
                    <a:bodyPr/>
                    <a:lstStyle/>
                    <a:p>
                      <a:pPr marL="457200" lvl="1" indent="0" algn="l" rtl="0" fontAlgn="b">
                        <a:buFont typeface="Arial" panose="020B0604020202020204" pitchFamily="34" charset="0"/>
                        <a:buNone/>
                      </a:pPr>
                      <a:r>
                        <a:rPr lang="es-ES" sz="1200" b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Desarrollo del producto</a:t>
                      </a:r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4019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ES" sz="1200" b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562.500</a:t>
                      </a:r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ES" sz="1200" b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2.400.000</a:t>
                      </a:r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ES" sz="1200" b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10.800.000</a:t>
                      </a:r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200" b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5 %</a:t>
                      </a:r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9688327"/>
                  </a:ext>
                </a:extLst>
              </a:tr>
              <a:tr h="284706">
                <a:tc>
                  <a:txBody>
                    <a:bodyPr/>
                    <a:lstStyle/>
                    <a:p>
                      <a:pPr marL="457200" lvl="1" indent="0" algn="l" rtl="0" fontAlgn="b">
                        <a:buFont typeface="Arial" panose="020B0604020202020204" pitchFamily="34" charset="0"/>
                        <a:buNone/>
                      </a:pPr>
                      <a:r>
                        <a:rPr lang="es-ES" sz="1200" b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Investigación</a:t>
                      </a:r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4019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ES" sz="1200" b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281.250</a:t>
                      </a:r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ES" sz="1200" b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2.400.000</a:t>
                      </a:r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ES" sz="1200" b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4.320.000</a:t>
                      </a:r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200" b="0" u="none" strike="noStrike" noProof="0">
                          <a:solidFill>
                            <a:schemeClr val="tx1"/>
                          </a:solidFill>
                          <a:effectLst/>
                        </a:rPr>
                        <a:t>2 %</a:t>
                      </a:r>
                      <a:endParaRPr lang="es-ES" sz="1200" b="0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3433075"/>
                  </a:ext>
                </a:extLst>
              </a:tr>
              <a:tr h="284706"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200" b="1" u="none" strike="noStrike" noProof="0">
                          <a:solidFill>
                            <a:schemeClr val="tx1"/>
                          </a:solidFill>
                          <a:effectLst/>
                        </a:rPr>
                        <a:t>GASTOS TOTALES</a:t>
                      </a:r>
                      <a:endParaRPr lang="es-ES" sz="1200" b="1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4019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ES" sz="1200" b="1" u="none" strike="noStrike" noProof="0">
                          <a:solidFill>
                            <a:schemeClr val="tx1"/>
                          </a:solidFill>
                          <a:effectLst/>
                        </a:rPr>
                        <a:t>7.593.750</a:t>
                      </a:r>
                      <a:endParaRPr lang="es-ES" sz="1200" b="1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ES" sz="1200" b="1" u="none" strike="noStrike" noProof="0">
                          <a:solidFill>
                            <a:schemeClr val="tx1"/>
                          </a:solidFill>
                          <a:effectLst/>
                        </a:rPr>
                        <a:t>52.800.000</a:t>
                      </a:r>
                      <a:endParaRPr lang="es-ES" sz="1200" b="1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s-ES" sz="1200" b="1" u="none" strike="noStrike" noProof="0">
                          <a:solidFill>
                            <a:schemeClr val="tx1"/>
                          </a:solidFill>
                          <a:effectLst/>
                        </a:rPr>
                        <a:t>187.920.000</a:t>
                      </a:r>
                      <a:endParaRPr lang="es-ES" sz="1200" b="1" i="0" u="none" strike="noStrike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s-ES" sz="1200" b="0" i="0" u="none" strike="noStrike" noProof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61" marR="76261" marT="38130" marB="3813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1145645"/>
                  </a:ext>
                </a:extLst>
              </a:tr>
            </a:tbl>
          </a:graphicData>
        </a:graphic>
      </p:graphicFrame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63B6BDC-0568-466F-91ED-52067B366C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s-ES"/>
              <a:t>20XX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7A559BE-816C-475D-9ADA-DDFDF14A4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s-ES"/>
              <a:t>Presentación de lanzamiento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8597536-70D1-46C0-A2A2-51A6BB21D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s-ES" smtClean="0"/>
              <a:pPr rtl="0"/>
              <a:t>17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669975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A6F7BB-30A8-4980-AD4A-2FB0B53FA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rtlCol="0"/>
          <a:lstStyle/>
          <a:p>
            <a:pPr rtl="0"/>
            <a:r>
              <a:rPr lang="es-ES"/>
              <a:t>QUIÉNES SOMOS</a:t>
            </a:r>
          </a:p>
        </p:txBody>
      </p:sp>
      <p:pic>
        <p:nvPicPr>
          <p:cNvPr id="26" name="Marcador de posición de imagen 25" descr="Primer plano de una persona del equipo">
            <a:extLst>
              <a:ext uri="{FF2B5EF4-FFF2-40B4-BE49-F238E27FC236}">
                <a16:creationId xmlns:a16="http://schemas.microsoft.com/office/drawing/2014/main" id="{C38F90B4-657F-4EA8-B86E-B9BD2E8B7BB2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87181" y="2886074"/>
            <a:ext cx="1845511" cy="1845511"/>
          </a:xfrm>
        </p:spPr>
      </p:pic>
      <p:sp>
        <p:nvSpPr>
          <p:cNvPr id="24" name="Marcador de texto 23">
            <a:extLst>
              <a:ext uri="{FF2B5EF4-FFF2-40B4-BE49-F238E27FC236}">
                <a16:creationId xmlns:a16="http://schemas.microsoft.com/office/drawing/2014/main" id="{7BAD1FFF-8B97-4CD1-85E7-B7738EAD28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11558" y="5084524"/>
            <a:ext cx="2196619" cy="343061"/>
          </a:xfrm>
        </p:spPr>
        <p:txBody>
          <a:bodyPr rtlCol="0"/>
          <a:lstStyle/>
          <a:p>
            <a:pPr rtl="0"/>
            <a:r>
              <a:rPr lang="es-ES"/>
              <a:t>TAKUMA HAYASHI​</a:t>
            </a:r>
          </a:p>
        </p:txBody>
      </p:sp>
      <p:sp>
        <p:nvSpPr>
          <p:cNvPr id="36" name="Marcador de texto 35">
            <a:extLst>
              <a:ext uri="{FF2B5EF4-FFF2-40B4-BE49-F238E27FC236}">
                <a16:creationId xmlns:a16="http://schemas.microsoft.com/office/drawing/2014/main" id="{B76FA389-A54D-4E4B-81DA-DBA175D78FEC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1487181" y="5464114"/>
            <a:ext cx="1845511" cy="343061"/>
          </a:xfrm>
        </p:spPr>
        <p:txBody>
          <a:bodyPr rtlCol="0"/>
          <a:lstStyle/>
          <a:p>
            <a:pPr rtl="0"/>
            <a:r>
              <a:rPr lang="es-ES"/>
              <a:t>Presidente</a:t>
            </a:r>
          </a:p>
        </p:txBody>
      </p:sp>
      <p:pic>
        <p:nvPicPr>
          <p:cNvPr id="47" name="Marcador de posición de imagen 46" descr="Primer plano de una persona del equipo">
            <a:extLst>
              <a:ext uri="{FF2B5EF4-FFF2-40B4-BE49-F238E27FC236}">
                <a16:creationId xmlns:a16="http://schemas.microsoft.com/office/drawing/2014/main" id="{8AF5260A-2860-4F88-BA4D-70530D3E14AA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36914" y="2886074"/>
            <a:ext cx="1845511" cy="1845511"/>
          </a:xfrm>
        </p:spPr>
      </p:pic>
      <p:sp>
        <p:nvSpPr>
          <p:cNvPr id="33" name="Marcador de texto 32">
            <a:extLst>
              <a:ext uri="{FF2B5EF4-FFF2-40B4-BE49-F238E27FC236}">
                <a16:creationId xmlns:a16="http://schemas.microsoft.com/office/drawing/2014/main" id="{10C8C8C1-99D8-4034-A628-DECEB703BA1D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3707607" y="5099206"/>
            <a:ext cx="2145049" cy="343061"/>
          </a:xfrm>
        </p:spPr>
        <p:txBody>
          <a:bodyPr rtlCol="0"/>
          <a:lstStyle/>
          <a:p>
            <a:pPr rtl="0"/>
            <a:r>
              <a:rPr lang="es-ES"/>
              <a:t>MIRJAM NILSSON​</a:t>
            </a:r>
          </a:p>
        </p:txBody>
      </p:sp>
      <p:sp>
        <p:nvSpPr>
          <p:cNvPr id="37" name="Marcador de texto 36">
            <a:extLst>
              <a:ext uri="{FF2B5EF4-FFF2-40B4-BE49-F238E27FC236}">
                <a16:creationId xmlns:a16="http://schemas.microsoft.com/office/drawing/2014/main" id="{65786675-BFC6-4743-BFD3-D64691F771D8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3836913" y="5478796"/>
            <a:ext cx="1855949" cy="343061"/>
          </a:xfrm>
        </p:spPr>
        <p:txBody>
          <a:bodyPr rtlCol="0"/>
          <a:lstStyle/>
          <a:p>
            <a:pPr rtl="0"/>
            <a:r>
              <a:rPr lang="es-ES"/>
              <a:t>Directora ejecutiva</a:t>
            </a:r>
          </a:p>
        </p:txBody>
      </p:sp>
      <p:pic>
        <p:nvPicPr>
          <p:cNvPr id="45" name="Marcador de posición de imagen 44" descr="Primer plano de una persona del equipo">
            <a:extLst>
              <a:ext uri="{FF2B5EF4-FFF2-40B4-BE49-F238E27FC236}">
                <a16:creationId xmlns:a16="http://schemas.microsoft.com/office/drawing/2014/main" id="{4442FA67-BF04-4E45-BFD9-78BF43789E09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27578" y="2886074"/>
            <a:ext cx="1845511" cy="1845511"/>
          </a:xfrm>
        </p:spPr>
      </p:pic>
      <p:sp>
        <p:nvSpPr>
          <p:cNvPr id="34" name="Marcador de texto 33">
            <a:extLst>
              <a:ext uri="{FF2B5EF4-FFF2-40B4-BE49-F238E27FC236}">
                <a16:creationId xmlns:a16="http://schemas.microsoft.com/office/drawing/2014/main" id="{08CA58D6-00FD-4D81-A0F6-215C4D558912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6198271" y="5099206"/>
            <a:ext cx="2132985" cy="343061"/>
          </a:xfrm>
        </p:spPr>
        <p:txBody>
          <a:bodyPr rtlCol="0"/>
          <a:lstStyle/>
          <a:p>
            <a:pPr rtl="0"/>
            <a:r>
              <a:rPr lang="es-ES"/>
              <a:t>FLORA BERGGREN​</a:t>
            </a:r>
          </a:p>
        </p:txBody>
      </p:sp>
      <p:sp>
        <p:nvSpPr>
          <p:cNvPr id="38" name="Marcador de texto 37">
            <a:extLst>
              <a:ext uri="{FF2B5EF4-FFF2-40B4-BE49-F238E27FC236}">
                <a16:creationId xmlns:a16="http://schemas.microsoft.com/office/drawing/2014/main" id="{97062F49-F468-4EA6-B6BF-94BFF89FDCB7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6327577" y="5478796"/>
            <a:ext cx="1845511" cy="343061"/>
          </a:xfrm>
        </p:spPr>
        <p:txBody>
          <a:bodyPr rtlCol="0"/>
          <a:lstStyle/>
          <a:p>
            <a:pPr rtl="0"/>
            <a:r>
              <a:rPr lang="es-ES"/>
              <a:t>Directora de operaciones</a:t>
            </a:r>
          </a:p>
          <a:p>
            <a:pPr rtl="0"/>
            <a:endParaRPr lang="es-ES"/>
          </a:p>
        </p:txBody>
      </p:sp>
      <p:pic>
        <p:nvPicPr>
          <p:cNvPr id="43" name="Marcador de posición de imagen 42" descr="Primer plano de una persona del equipo">
            <a:extLst>
              <a:ext uri="{FF2B5EF4-FFF2-40B4-BE49-F238E27FC236}">
                <a16:creationId xmlns:a16="http://schemas.microsoft.com/office/drawing/2014/main" id="{F328CD15-EA0E-49AD-A3C6-5798A372AA53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47458" y="2886074"/>
            <a:ext cx="1845511" cy="1845511"/>
          </a:xfrm>
        </p:spPr>
      </p:pic>
      <p:sp>
        <p:nvSpPr>
          <p:cNvPr id="35" name="Marcador de texto 34">
            <a:extLst>
              <a:ext uri="{FF2B5EF4-FFF2-40B4-BE49-F238E27FC236}">
                <a16:creationId xmlns:a16="http://schemas.microsoft.com/office/drawing/2014/main" id="{60D37431-6A3A-47F6-A367-B5ADCF66AE37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8618152" y="5084524"/>
            <a:ext cx="2132984" cy="343061"/>
          </a:xfrm>
        </p:spPr>
        <p:txBody>
          <a:bodyPr rtlCol="0"/>
          <a:lstStyle/>
          <a:p>
            <a:pPr rtl="0"/>
            <a:r>
              <a:rPr lang="es-ES"/>
              <a:t>RAJESH SANTOSHI​</a:t>
            </a:r>
          </a:p>
        </p:txBody>
      </p:sp>
      <p:sp>
        <p:nvSpPr>
          <p:cNvPr id="39" name="Marcador de texto 38">
            <a:extLst>
              <a:ext uri="{FF2B5EF4-FFF2-40B4-BE49-F238E27FC236}">
                <a16:creationId xmlns:a16="http://schemas.microsoft.com/office/drawing/2014/main" id="{59D9F00A-8CF0-41E8-9BB6-3B8ECDA55D49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8747458" y="5464114"/>
            <a:ext cx="1845510" cy="343061"/>
          </a:xfrm>
        </p:spPr>
        <p:txBody>
          <a:bodyPr rtlCol="0"/>
          <a:lstStyle/>
          <a:p>
            <a:pPr rtl="0"/>
            <a:r>
              <a:rPr lang="es-ES"/>
              <a:t>Vicepresidente de marketing</a:t>
            </a:r>
          </a:p>
          <a:p>
            <a:pPr rtl="0"/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2F9CC1F-102C-49CC-B646-8E6826368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s-ES"/>
              <a:t>20XX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3808A03-6EC3-48BE-9D18-5A746D092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s-ES"/>
              <a:t>Presentación de lanzamiento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6868410-BE8A-4C98-9C72-20D0A2A6A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s-ES" smtClean="0"/>
              <a:pPr rtl="0"/>
              <a:t>18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774530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A6F7BB-30A8-4980-AD4A-2FB0B53FA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rtlCol="0"/>
          <a:lstStyle/>
          <a:p>
            <a:pPr rtl="0"/>
            <a:r>
              <a:rPr lang="es-ES"/>
              <a:t>QUIÉNES SOMOS </a:t>
            </a:r>
          </a:p>
        </p:txBody>
      </p:sp>
      <p:pic>
        <p:nvPicPr>
          <p:cNvPr id="38" name="Marcador de posición de imagen 37" descr="Primer plano de una persona del equipo">
            <a:extLst>
              <a:ext uri="{FF2B5EF4-FFF2-40B4-BE49-F238E27FC236}">
                <a16:creationId xmlns:a16="http://schemas.microsoft.com/office/drawing/2014/main" id="{76554518-1C01-4B26-9940-1C04FC9D73BA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77176" y="2428875"/>
            <a:ext cx="1066800" cy="1066800"/>
          </a:xfrm>
        </p:spPr>
      </p:pic>
      <p:sp>
        <p:nvSpPr>
          <p:cNvPr id="36" name="Marcador de texto 35">
            <a:extLst>
              <a:ext uri="{FF2B5EF4-FFF2-40B4-BE49-F238E27FC236}">
                <a16:creationId xmlns:a16="http://schemas.microsoft.com/office/drawing/2014/main" id="{23BA8AAF-B08B-441B-AAF3-590A56832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00168" y="3654378"/>
            <a:ext cx="1828800" cy="343061"/>
          </a:xfrm>
        </p:spPr>
        <p:txBody>
          <a:bodyPr rtlCol="0"/>
          <a:lstStyle/>
          <a:p>
            <a:pPr rtl="0"/>
            <a:r>
              <a:rPr lang="es-ES"/>
              <a:t>TAKUMA HAYASHI</a:t>
            </a:r>
          </a:p>
          <a:p>
            <a:pPr rtl="0"/>
            <a:endParaRPr lang="es-ES"/>
          </a:p>
        </p:txBody>
      </p:sp>
      <p:sp>
        <p:nvSpPr>
          <p:cNvPr id="52" name="Marcador de texto 51">
            <a:extLst>
              <a:ext uri="{FF2B5EF4-FFF2-40B4-BE49-F238E27FC236}">
                <a16:creationId xmlns:a16="http://schemas.microsoft.com/office/drawing/2014/main" id="{E07741A2-243F-4086-945C-BCA1F24E6DB5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1390120" y="3782039"/>
            <a:ext cx="2057400" cy="343061"/>
          </a:xfrm>
        </p:spPr>
        <p:txBody>
          <a:bodyPr rtlCol="0"/>
          <a:lstStyle/>
          <a:p>
            <a:pPr rtl="0"/>
            <a:r>
              <a:rPr lang="es-ES"/>
              <a:t>Presidente</a:t>
            </a:r>
          </a:p>
        </p:txBody>
      </p:sp>
      <p:pic>
        <p:nvPicPr>
          <p:cNvPr id="42" name="Marcador de posición de imagen 41" descr="Primer plano de una persona del equipo">
            <a:extLst>
              <a:ext uri="{FF2B5EF4-FFF2-40B4-BE49-F238E27FC236}">
                <a16:creationId xmlns:a16="http://schemas.microsoft.com/office/drawing/2014/main" id="{CB092FE3-5F48-4433-B8FF-114D1CD7437D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26270" y="2428875"/>
            <a:ext cx="1066800" cy="1066800"/>
          </a:xfrm>
        </p:spPr>
      </p:pic>
      <p:sp>
        <p:nvSpPr>
          <p:cNvPr id="49" name="Marcador de texto 48">
            <a:extLst>
              <a:ext uri="{FF2B5EF4-FFF2-40B4-BE49-F238E27FC236}">
                <a16:creationId xmlns:a16="http://schemas.microsoft.com/office/drawing/2014/main" id="{27CB5CB7-B854-4F48-954C-5CF86CC9146D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3849262" y="3669060"/>
            <a:ext cx="1828800" cy="343061"/>
          </a:xfrm>
        </p:spPr>
        <p:txBody>
          <a:bodyPr rtlCol="0"/>
          <a:lstStyle/>
          <a:p>
            <a:pPr rtl="0"/>
            <a:r>
              <a:rPr lang="es-ES"/>
              <a:t>MIRJAM NILSSON​</a:t>
            </a:r>
          </a:p>
        </p:txBody>
      </p:sp>
      <p:sp>
        <p:nvSpPr>
          <p:cNvPr id="61" name="Marcador de texto 60">
            <a:extLst>
              <a:ext uri="{FF2B5EF4-FFF2-40B4-BE49-F238E27FC236}">
                <a16:creationId xmlns:a16="http://schemas.microsoft.com/office/drawing/2014/main" id="{F1C860E6-FF87-419F-8B26-B8EA4D5F3D3D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3739214" y="3796721"/>
            <a:ext cx="2057400" cy="343061"/>
          </a:xfrm>
        </p:spPr>
        <p:txBody>
          <a:bodyPr rtlCol="0"/>
          <a:lstStyle/>
          <a:p>
            <a:pPr rtl="0"/>
            <a:r>
              <a:rPr lang="es-ES"/>
              <a:t>Directora ejecutiva</a:t>
            </a:r>
          </a:p>
        </p:txBody>
      </p:sp>
      <p:pic>
        <p:nvPicPr>
          <p:cNvPr id="46" name="Marcador de posición de imagen 45" descr="Primer plano de una persona del equipo">
            <a:extLst>
              <a:ext uri="{FF2B5EF4-FFF2-40B4-BE49-F238E27FC236}">
                <a16:creationId xmlns:a16="http://schemas.microsoft.com/office/drawing/2014/main" id="{570FC090-540A-41E2-99FA-7B7BC171A64E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16934" y="2428875"/>
            <a:ext cx="1066800" cy="1066800"/>
          </a:xfrm>
        </p:spPr>
      </p:pic>
      <p:sp>
        <p:nvSpPr>
          <p:cNvPr id="50" name="Marcador de texto 49">
            <a:extLst>
              <a:ext uri="{FF2B5EF4-FFF2-40B4-BE49-F238E27FC236}">
                <a16:creationId xmlns:a16="http://schemas.microsoft.com/office/drawing/2014/main" id="{540F887C-E8EB-4467-90FE-023D47FFB454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6339926" y="3669060"/>
            <a:ext cx="1828800" cy="343061"/>
          </a:xfrm>
        </p:spPr>
        <p:txBody>
          <a:bodyPr rtlCol="0"/>
          <a:lstStyle/>
          <a:p>
            <a:pPr rtl="0"/>
            <a:r>
              <a:rPr lang="es-ES"/>
              <a:t>FLORA BERGGREN​</a:t>
            </a:r>
          </a:p>
          <a:p>
            <a:pPr rtl="0"/>
            <a:endParaRPr lang="es-ES"/>
          </a:p>
        </p:txBody>
      </p:sp>
      <p:sp>
        <p:nvSpPr>
          <p:cNvPr id="62" name="Marcador de texto 61">
            <a:extLst>
              <a:ext uri="{FF2B5EF4-FFF2-40B4-BE49-F238E27FC236}">
                <a16:creationId xmlns:a16="http://schemas.microsoft.com/office/drawing/2014/main" id="{F1AF6C54-9939-432B-BBC2-5E0C0F8B2D8C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6217963" y="3796721"/>
            <a:ext cx="2057400" cy="343061"/>
          </a:xfrm>
        </p:spPr>
        <p:txBody>
          <a:bodyPr rtlCol="0"/>
          <a:lstStyle/>
          <a:p>
            <a:pPr rtl="0"/>
            <a:r>
              <a:rPr lang="es-ES"/>
              <a:t>Directora de operaciones</a:t>
            </a:r>
          </a:p>
        </p:txBody>
      </p:sp>
      <p:pic>
        <p:nvPicPr>
          <p:cNvPr id="54" name="Marcador de posición de imagen 53" descr="Primer plano de una persona del equipo">
            <a:extLst>
              <a:ext uri="{FF2B5EF4-FFF2-40B4-BE49-F238E27FC236}">
                <a16:creationId xmlns:a16="http://schemas.microsoft.com/office/drawing/2014/main" id="{79B06025-9CB9-45C4-BF20-7D0D27D1B814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36814" y="2428875"/>
            <a:ext cx="1066800" cy="1066800"/>
          </a:xfrm>
        </p:spPr>
      </p:pic>
      <p:sp>
        <p:nvSpPr>
          <p:cNvPr id="51" name="Marcador de texto 50">
            <a:extLst>
              <a:ext uri="{FF2B5EF4-FFF2-40B4-BE49-F238E27FC236}">
                <a16:creationId xmlns:a16="http://schemas.microsoft.com/office/drawing/2014/main" id="{C1C77C5B-2A5F-4999-A5BF-F60EA88DE493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8759806" y="3654378"/>
            <a:ext cx="1828800" cy="343061"/>
          </a:xfrm>
        </p:spPr>
        <p:txBody>
          <a:bodyPr rtlCol="0"/>
          <a:lstStyle/>
          <a:p>
            <a:pPr rtl="0"/>
            <a:r>
              <a:rPr lang="es-ES"/>
              <a:t>RAJESH SANTOSHI</a:t>
            </a:r>
          </a:p>
        </p:txBody>
      </p:sp>
      <p:sp>
        <p:nvSpPr>
          <p:cNvPr id="63" name="Marcador de texto 62">
            <a:extLst>
              <a:ext uri="{FF2B5EF4-FFF2-40B4-BE49-F238E27FC236}">
                <a16:creationId xmlns:a16="http://schemas.microsoft.com/office/drawing/2014/main" id="{41797063-0A46-4FCE-86CB-FC66F997C5F4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8362429" y="3782039"/>
            <a:ext cx="2601406" cy="343061"/>
          </a:xfrm>
        </p:spPr>
        <p:txBody>
          <a:bodyPr rtlCol="0"/>
          <a:lstStyle/>
          <a:p>
            <a:pPr rtl="0"/>
            <a:r>
              <a:rPr lang="es-ES"/>
              <a:t>Vicepresidente de marketing</a:t>
            </a:r>
          </a:p>
        </p:txBody>
      </p:sp>
      <p:pic>
        <p:nvPicPr>
          <p:cNvPr id="58" name="Marcador de posición de imagen 57" descr="Primer plano de una persona del equipo">
            <a:extLst>
              <a:ext uri="{FF2B5EF4-FFF2-40B4-BE49-F238E27FC236}">
                <a16:creationId xmlns:a16="http://schemas.microsoft.com/office/drawing/2014/main" id="{84ACB9E1-B019-4966-9E07-8D06D40BDDD3}"/>
              </a:ext>
            </a:extLst>
          </p:cNvPr>
          <p:cNvPicPr>
            <a:picLocks noGrp="1" noChangeAspect="1"/>
          </p:cNvPicPr>
          <p:nvPr>
            <p:ph type="pic" sz="quarter" idx="26"/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77176" y="4287711"/>
            <a:ext cx="1066800" cy="1066800"/>
          </a:xfrm>
        </p:spPr>
      </p:pic>
      <p:sp>
        <p:nvSpPr>
          <p:cNvPr id="64" name="Marcador de texto 63">
            <a:extLst>
              <a:ext uri="{FF2B5EF4-FFF2-40B4-BE49-F238E27FC236}">
                <a16:creationId xmlns:a16="http://schemas.microsoft.com/office/drawing/2014/main" id="{3ECD1D6F-7DAE-4DCC-BBB4-CD519379CDF6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1500168" y="5513214"/>
            <a:ext cx="1828800" cy="343061"/>
          </a:xfrm>
        </p:spPr>
        <p:txBody>
          <a:bodyPr rtlCol="0"/>
          <a:lstStyle/>
          <a:p>
            <a:pPr rtl="0"/>
            <a:r>
              <a:rPr lang="es-ES"/>
              <a:t>GRAHAM BARNES</a:t>
            </a:r>
          </a:p>
          <a:p>
            <a:pPr rtl="0"/>
            <a:endParaRPr lang="es-ES"/>
          </a:p>
        </p:txBody>
      </p:sp>
      <p:sp>
        <p:nvSpPr>
          <p:cNvPr id="72" name="Marcador de texto 71">
            <a:extLst>
              <a:ext uri="{FF2B5EF4-FFF2-40B4-BE49-F238E27FC236}">
                <a16:creationId xmlns:a16="http://schemas.microsoft.com/office/drawing/2014/main" id="{0420E7B5-7D79-437C-BC6E-11C9C9C73D12}"/>
              </a:ext>
            </a:extLst>
          </p:cNvPr>
          <p:cNvSpPr>
            <a:spLocks noGrp="1"/>
          </p:cNvSpPr>
          <p:nvPr>
            <p:ph type="body" idx="33"/>
          </p:nvPr>
        </p:nvSpPr>
        <p:spPr>
          <a:xfrm>
            <a:off x="1390120" y="5640875"/>
            <a:ext cx="2057400" cy="343061"/>
          </a:xfrm>
        </p:spPr>
        <p:txBody>
          <a:bodyPr rtlCol="0"/>
          <a:lstStyle/>
          <a:p>
            <a:pPr rtl="0"/>
            <a:r>
              <a:rPr lang="es-ES"/>
              <a:t>Vicepresidente de producto</a:t>
            </a:r>
          </a:p>
        </p:txBody>
      </p:sp>
      <p:pic>
        <p:nvPicPr>
          <p:cNvPr id="66" name="Marcador de posición de imagen 65" descr="Primer plano de una persona del equipo">
            <a:extLst>
              <a:ext uri="{FF2B5EF4-FFF2-40B4-BE49-F238E27FC236}">
                <a16:creationId xmlns:a16="http://schemas.microsoft.com/office/drawing/2014/main" id="{D61AF03E-3F4A-4F5E-BA7C-C1DF611CEA4F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26270" y="4287711"/>
            <a:ext cx="1066800" cy="1066800"/>
          </a:xfrm>
        </p:spPr>
      </p:pic>
      <p:sp>
        <p:nvSpPr>
          <p:cNvPr id="69" name="Marcador de texto 68">
            <a:extLst>
              <a:ext uri="{FF2B5EF4-FFF2-40B4-BE49-F238E27FC236}">
                <a16:creationId xmlns:a16="http://schemas.microsoft.com/office/drawing/2014/main" id="{A5A9CD8D-31A9-4139-87B2-349EA8E14781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3849262" y="5527896"/>
            <a:ext cx="1828800" cy="343061"/>
          </a:xfrm>
        </p:spPr>
        <p:txBody>
          <a:bodyPr rtlCol="0"/>
          <a:lstStyle/>
          <a:p>
            <a:pPr rtl="0"/>
            <a:r>
              <a:rPr lang="es-ES"/>
              <a:t>ROWAN MURPHY</a:t>
            </a:r>
          </a:p>
          <a:p>
            <a:pPr rtl="0"/>
            <a:endParaRPr lang="es-ES"/>
          </a:p>
        </p:txBody>
      </p:sp>
      <p:sp>
        <p:nvSpPr>
          <p:cNvPr id="73" name="Marcador de texto 72">
            <a:extLst>
              <a:ext uri="{FF2B5EF4-FFF2-40B4-BE49-F238E27FC236}">
                <a16:creationId xmlns:a16="http://schemas.microsoft.com/office/drawing/2014/main" id="{E1FCDD58-01CD-47CF-AB15-A511E9D3612F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3739214" y="5655557"/>
            <a:ext cx="2057400" cy="343061"/>
          </a:xfrm>
        </p:spPr>
        <p:txBody>
          <a:bodyPr rtlCol="0"/>
          <a:lstStyle/>
          <a:p>
            <a:pPr rtl="0"/>
            <a:r>
              <a:rPr lang="es-ES"/>
              <a:t>Estratega en SEO</a:t>
            </a:r>
          </a:p>
        </p:txBody>
      </p:sp>
      <p:pic>
        <p:nvPicPr>
          <p:cNvPr id="78" name="Marcador de posición de imagen 77" descr="Primer plano de una persona del equipo">
            <a:extLst>
              <a:ext uri="{FF2B5EF4-FFF2-40B4-BE49-F238E27FC236}">
                <a16:creationId xmlns:a16="http://schemas.microsoft.com/office/drawing/2014/main" id="{C0C63D45-D8C0-4899-A4AC-EA536EBA3E9D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16934" y="4287711"/>
            <a:ext cx="1066800" cy="1066800"/>
          </a:xfrm>
        </p:spPr>
      </p:pic>
      <p:sp>
        <p:nvSpPr>
          <p:cNvPr id="70" name="Marcador de texto 69">
            <a:extLst>
              <a:ext uri="{FF2B5EF4-FFF2-40B4-BE49-F238E27FC236}">
                <a16:creationId xmlns:a16="http://schemas.microsoft.com/office/drawing/2014/main" id="{58753412-8033-48AD-80DF-945C72BC7335}"/>
              </a:ext>
            </a:extLst>
          </p:cNvPr>
          <p:cNvSpPr>
            <a:spLocks noGrp="1"/>
          </p:cNvSpPr>
          <p:nvPr>
            <p:ph type="body" idx="31"/>
          </p:nvPr>
        </p:nvSpPr>
        <p:spPr>
          <a:xfrm>
            <a:off x="6339926" y="5527896"/>
            <a:ext cx="1828800" cy="343061"/>
          </a:xfrm>
        </p:spPr>
        <p:txBody>
          <a:bodyPr rtlCol="0"/>
          <a:lstStyle/>
          <a:p>
            <a:pPr rtl="0"/>
            <a:r>
              <a:rPr lang="es-ES"/>
              <a:t>ELIZABETH MOORE</a:t>
            </a:r>
          </a:p>
        </p:txBody>
      </p:sp>
      <p:sp>
        <p:nvSpPr>
          <p:cNvPr id="74" name="Marcador de texto 73">
            <a:extLst>
              <a:ext uri="{FF2B5EF4-FFF2-40B4-BE49-F238E27FC236}">
                <a16:creationId xmlns:a16="http://schemas.microsoft.com/office/drawing/2014/main" id="{2E2604A9-4BB8-4144-914B-DCF4F13DF3DB}"/>
              </a:ext>
            </a:extLst>
          </p:cNvPr>
          <p:cNvSpPr>
            <a:spLocks noGrp="1"/>
          </p:cNvSpPr>
          <p:nvPr>
            <p:ph type="body" idx="35"/>
          </p:nvPr>
        </p:nvSpPr>
        <p:spPr>
          <a:xfrm>
            <a:off x="6229878" y="5655557"/>
            <a:ext cx="2057400" cy="343061"/>
          </a:xfrm>
        </p:spPr>
        <p:txBody>
          <a:bodyPr rtlCol="0"/>
          <a:lstStyle/>
          <a:p>
            <a:pPr rtl="0"/>
            <a:r>
              <a:rPr lang="es-ES"/>
              <a:t>Diseñadora de productos</a:t>
            </a:r>
          </a:p>
        </p:txBody>
      </p:sp>
      <p:pic>
        <p:nvPicPr>
          <p:cNvPr id="83" name="Marcador de posición de imagen 82" descr="Primer plano de una persona del equipo">
            <a:extLst>
              <a:ext uri="{FF2B5EF4-FFF2-40B4-BE49-F238E27FC236}">
                <a16:creationId xmlns:a16="http://schemas.microsoft.com/office/drawing/2014/main" id="{3640DB2F-E9FF-4506-B751-D3C6F935A4DD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36814" y="4287711"/>
            <a:ext cx="1066800" cy="1066800"/>
          </a:xfrm>
        </p:spPr>
      </p:pic>
      <p:sp>
        <p:nvSpPr>
          <p:cNvPr id="71" name="Marcador de texto 70">
            <a:extLst>
              <a:ext uri="{FF2B5EF4-FFF2-40B4-BE49-F238E27FC236}">
                <a16:creationId xmlns:a16="http://schemas.microsoft.com/office/drawing/2014/main" id="{A45FE9A3-15E0-49FA-B6E5-DB16CD0C2C8F}"/>
              </a:ext>
            </a:extLst>
          </p:cNvPr>
          <p:cNvSpPr>
            <a:spLocks noGrp="1"/>
          </p:cNvSpPr>
          <p:nvPr>
            <p:ph type="body" idx="32"/>
          </p:nvPr>
        </p:nvSpPr>
        <p:spPr>
          <a:xfrm>
            <a:off x="8759806" y="5513214"/>
            <a:ext cx="1828800" cy="343061"/>
          </a:xfrm>
        </p:spPr>
        <p:txBody>
          <a:bodyPr rtlCol="0"/>
          <a:lstStyle/>
          <a:p>
            <a:pPr rtl="0"/>
            <a:r>
              <a:rPr lang="es-ES"/>
              <a:t>ROBIN KLINE</a:t>
            </a:r>
          </a:p>
        </p:txBody>
      </p:sp>
      <p:sp>
        <p:nvSpPr>
          <p:cNvPr id="75" name="Marcador de texto 74">
            <a:extLst>
              <a:ext uri="{FF2B5EF4-FFF2-40B4-BE49-F238E27FC236}">
                <a16:creationId xmlns:a16="http://schemas.microsoft.com/office/drawing/2014/main" id="{72076C4D-9688-4C1A-AB51-8F1051A803A9}"/>
              </a:ext>
            </a:extLst>
          </p:cNvPr>
          <p:cNvSpPr>
            <a:spLocks noGrp="1"/>
          </p:cNvSpPr>
          <p:nvPr>
            <p:ph type="body" idx="36"/>
          </p:nvPr>
        </p:nvSpPr>
        <p:spPr>
          <a:xfrm>
            <a:off x="8362429" y="5640875"/>
            <a:ext cx="2601406" cy="343061"/>
          </a:xfrm>
        </p:spPr>
        <p:txBody>
          <a:bodyPr rtlCol="0"/>
          <a:lstStyle/>
          <a:p>
            <a:pPr rtl="0"/>
            <a:r>
              <a:rPr lang="es-ES"/>
              <a:t>Desarrolladora de contenido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833164A-09D8-4E05-899E-C830A562A44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s-ES"/>
              <a:t>20XX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9EB4DEA-4DCD-421C-A905-7EFCAE898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s-ES"/>
              <a:t>Presentación de lanzamiento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E1923C7-5010-4C4F-A932-4BDA0B62A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s-ES" smtClean="0"/>
              <a:pPr rtl="0"/>
              <a:t>19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62667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1BF33B-5572-4A00-A55C-1E13A6B3A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rtlCol="0"/>
          <a:lstStyle/>
          <a:p>
            <a:pPr rtl="0"/>
            <a:r>
              <a:rPr lang="es-ES" dirty="0"/>
              <a:t>FINANCIACIÓN</a:t>
            </a:r>
          </a:p>
        </p:txBody>
      </p:sp>
      <p:graphicFrame>
        <p:nvGraphicFramePr>
          <p:cNvPr id="126" name="Marcador de contenido 125" title="Gráfico de la financiación">
            <a:extLst>
              <a:ext uri="{FF2B5EF4-FFF2-40B4-BE49-F238E27FC236}">
                <a16:creationId xmlns:a16="http://schemas.microsoft.com/office/drawing/2014/main" id="{A036AFA2-B0F0-4DE7-B7AE-E4B852EB3D36}"/>
              </a:ext>
            </a:extLst>
          </p:cNvPr>
          <p:cNvGraphicFramePr>
            <a:graphicFrameLocks noGrp="1"/>
          </p:cNvGraphicFramePr>
          <p:nvPr>
            <p:ph sz="quarter" idx="21"/>
            <p:extLst>
              <p:ext uri="{D42A27DB-BD31-4B8C-83A1-F6EECF244321}">
                <p14:modId xmlns:p14="http://schemas.microsoft.com/office/powerpoint/2010/main" val="940446203"/>
              </p:ext>
            </p:extLst>
          </p:nvPr>
        </p:nvGraphicFramePr>
        <p:xfrm>
          <a:off x="1074738" y="2119313"/>
          <a:ext cx="1857375" cy="1663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A4739B-8DE9-4523-8034-4E83861CCF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788813"/>
            <a:ext cx="2330726" cy="804859"/>
          </a:xfrm>
        </p:spPr>
        <p:txBody>
          <a:bodyPr rtlCol="0"/>
          <a:lstStyle/>
          <a:p>
            <a:pPr rtl="0"/>
            <a:r>
              <a:rPr lang="es-ES" dirty="0"/>
              <a:t>14.000 €</a:t>
            </a:r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C487CCC0-D329-4C1F-A1CD-04930A23C5C3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838200" y="4464810"/>
            <a:ext cx="2330726" cy="438505"/>
          </a:xfrm>
        </p:spPr>
        <p:txBody>
          <a:bodyPr rtlCol="0"/>
          <a:lstStyle/>
          <a:p>
            <a:pPr rtl="0"/>
            <a:r>
              <a:rPr lang="es-ES" dirty="0"/>
              <a:t>ÁNGELES INVERSORES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1CF2BB3-1E12-4189-9F5F-EF136C62E3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rtlCol="0"/>
          <a:lstStyle/>
          <a:p>
            <a:pPr rtl="0"/>
            <a:r>
              <a:rPr lang="es-ES" dirty="0"/>
              <a:t>Importe obtenido a través de otros inversores</a:t>
            </a:r>
          </a:p>
        </p:txBody>
      </p:sp>
      <p:graphicFrame>
        <p:nvGraphicFramePr>
          <p:cNvPr id="127" name="Marcador de contenido 126" title="Gráfico de la financiación">
            <a:extLst>
              <a:ext uri="{FF2B5EF4-FFF2-40B4-BE49-F238E27FC236}">
                <a16:creationId xmlns:a16="http://schemas.microsoft.com/office/drawing/2014/main" id="{47DB352F-5059-4378-B91D-92E59C6B1B91}"/>
              </a:ext>
            </a:extLst>
          </p:cNvPr>
          <p:cNvGraphicFramePr>
            <a:graphicFrameLocks noGrp="1"/>
          </p:cNvGraphicFramePr>
          <p:nvPr>
            <p:ph sz="quarter" idx="22"/>
            <p:extLst>
              <p:ext uri="{D42A27DB-BD31-4B8C-83A1-F6EECF244321}">
                <p14:modId xmlns:p14="http://schemas.microsoft.com/office/powerpoint/2010/main" val="481682741"/>
              </p:ext>
            </p:extLst>
          </p:nvPr>
        </p:nvGraphicFramePr>
        <p:xfrm>
          <a:off x="3811588" y="2119313"/>
          <a:ext cx="1855787" cy="1663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8145D0E-892D-492B-8AD6-551CF27DD5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562665" y="3788813"/>
            <a:ext cx="2342205" cy="804859"/>
          </a:xfrm>
        </p:spPr>
        <p:txBody>
          <a:bodyPr rtlCol="0"/>
          <a:lstStyle/>
          <a:p>
            <a:pPr rtl="0"/>
            <a:r>
              <a:rPr lang="es-ES" dirty="0"/>
              <a:t>12.000 € </a:t>
            </a:r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34E62770-EE0A-4D83-B50E-CD868056030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2665" y="4464810"/>
            <a:ext cx="2342205" cy="438505"/>
          </a:xfrm>
        </p:spPr>
        <p:txBody>
          <a:bodyPr rtlCol="0"/>
          <a:lstStyle/>
          <a:p>
            <a:pPr rtl="0"/>
            <a:r>
              <a:rPr lang="es-ES" dirty="0"/>
              <a:t>PROPIEDADES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ED3951E-8DE6-4BA9-B9BA-CFCDF43222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rtlCol="0"/>
          <a:lstStyle/>
          <a:p>
            <a:pPr rtl="0"/>
            <a:r>
              <a:rPr lang="es-ES" dirty="0"/>
              <a:t>Ingresos obtenidos del alquiler de inmuebles</a:t>
            </a:r>
          </a:p>
        </p:txBody>
      </p:sp>
      <p:graphicFrame>
        <p:nvGraphicFramePr>
          <p:cNvPr id="128" name="Marcador de contenido 127" title="Gráfico de la financiación">
            <a:extLst>
              <a:ext uri="{FF2B5EF4-FFF2-40B4-BE49-F238E27FC236}">
                <a16:creationId xmlns:a16="http://schemas.microsoft.com/office/drawing/2014/main" id="{87227872-8A65-49E5-922E-C5FA7A158972}"/>
              </a:ext>
            </a:extLst>
          </p:cNvPr>
          <p:cNvGraphicFramePr>
            <a:graphicFrameLocks noGrp="1"/>
          </p:cNvGraphicFramePr>
          <p:nvPr>
            <p:ph sz="quarter" idx="23"/>
            <p:extLst>
              <p:ext uri="{D42A27DB-BD31-4B8C-83A1-F6EECF244321}">
                <p14:modId xmlns:p14="http://schemas.microsoft.com/office/powerpoint/2010/main" val="5099324"/>
              </p:ext>
            </p:extLst>
          </p:nvPr>
        </p:nvGraphicFramePr>
        <p:xfrm>
          <a:off x="6524625" y="2119313"/>
          <a:ext cx="1855788" cy="1663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C66E4F1A-AD73-4086-B578-235F0B9F1FC4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298609" y="3788813"/>
            <a:ext cx="2330726" cy="804859"/>
          </a:xfrm>
        </p:spPr>
        <p:txBody>
          <a:bodyPr rtlCol="0"/>
          <a:lstStyle/>
          <a:p>
            <a:pPr rtl="0"/>
            <a:r>
              <a:rPr lang="es-ES" dirty="0"/>
              <a:t>82.000 €</a:t>
            </a:r>
          </a:p>
        </p:txBody>
      </p: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AAB421C5-B6AC-48B8-8AEB-AB16AAE5010E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6298609" y="4464810"/>
            <a:ext cx="2330726" cy="438505"/>
          </a:xfrm>
        </p:spPr>
        <p:txBody>
          <a:bodyPr rtlCol="0"/>
          <a:lstStyle/>
          <a:p>
            <a:pPr rtl="0"/>
            <a:r>
              <a:rPr lang="es-ES" dirty="0"/>
              <a:t>ACCIONES</a:t>
            </a:r>
          </a:p>
        </p:txBody>
      </p:sp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345C82A0-3F56-47BD-9FB2-6B56DA715F9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rtlCol="0"/>
          <a:lstStyle/>
          <a:p>
            <a:pPr rtl="0"/>
            <a:r>
              <a:rPr lang="es-ES" dirty="0"/>
              <a:t>Número de acciones convertidas en EUR</a:t>
            </a:r>
          </a:p>
          <a:p>
            <a:pPr rtl="0"/>
            <a:endParaRPr lang="es-ES" noProof="1"/>
          </a:p>
        </p:txBody>
      </p:sp>
      <p:graphicFrame>
        <p:nvGraphicFramePr>
          <p:cNvPr id="129" name="Marcador de contenido 128" title="Gráfico de la financiación">
            <a:extLst>
              <a:ext uri="{FF2B5EF4-FFF2-40B4-BE49-F238E27FC236}">
                <a16:creationId xmlns:a16="http://schemas.microsoft.com/office/drawing/2014/main" id="{C5A16E70-0D42-492E-9123-5E9A696ECB43}"/>
              </a:ext>
            </a:extLst>
          </p:cNvPr>
          <p:cNvGraphicFramePr>
            <a:graphicFrameLocks noGrp="1"/>
          </p:cNvGraphicFramePr>
          <p:nvPr>
            <p:ph sz="quarter" idx="24"/>
            <p:extLst>
              <p:ext uri="{D42A27DB-BD31-4B8C-83A1-F6EECF244321}">
                <p14:modId xmlns:p14="http://schemas.microsoft.com/office/powerpoint/2010/main" val="2324925863"/>
              </p:ext>
            </p:extLst>
          </p:nvPr>
        </p:nvGraphicFramePr>
        <p:xfrm>
          <a:off x="9259888" y="2119313"/>
          <a:ext cx="1857375" cy="1663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F70E657A-85D8-48A8-B017-274F0C32C5C9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9023074" y="3788457"/>
            <a:ext cx="2330726" cy="804859"/>
          </a:xfrm>
        </p:spPr>
        <p:txBody>
          <a:bodyPr rtlCol="0"/>
          <a:lstStyle/>
          <a:p>
            <a:pPr rtl="0"/>
            <a:r>
              <a:rPr lang="es-ES" dirty="0"/>
              <a:t>32.000 €</a:t>
            </a:r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025753CB-8973-4FAE-BB5D-5CC96CE338D4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9023074" y="4464454"/>
            <a:ext cx="2330726" cy="438505"/>
          </a:xfrm>
        </p:spPr>
        <p:txBody>
          <a:bodyPr rtlCol="0"/>
          <a:lstStyle/>
          <a:p>
            <a:pPr rtl="0"/>
            <a:r>
              <a:rPr lang="es-ES" dirty="0"/>
              <a:t>EFECTIVO</a:t>
            </a:r>
          </a:p>
        </p:txBody>
      </p:sp>
      <p:sp>
        <p:nvSpPr>
          <p:cNvPr id="13" name="Marcador de contenido 12">
            <a:extLst>
              <a:ext uri="{FF2B5EF4-FFF2-40B4-BE49-F238E27FC236}">
                <a16:creationId xmlns:a16="http://schemas.microsoft.com/office/drawing/2014/main" id="{69F9DEC9-77BC-482D-ACFB-0F2B6DC65F9F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rtlCol="0"/>
          <a:lstStyle/>
          <a:p>
            <a:pPr rtl="0"/>
            <a:r>
              <a:rPr lang="es-ES" noProof="1"/>
              <a:t>Dinero líquido que </a:t>
            </a:r>
            <a:br>
              <a:rPr lang="es-ES" noProof="1"/>
            </a:br>
            <a:r>
              <a:rPr lang="es-ES" noProof="1"/>
              <a:t>tenemos disponible</a:t>
            </a:r>
          </a:p>
          <a:p>
            <a:pPr rtl="0"/>
            <a:endParaRPr lang="es-ES" dirty="0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563C171-5812-4E79-804A-ED04E1BD313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s-ES" dirty="0"/>
              <a:t>20XX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AD8A4DC-ECAA-4D59-BE12-EBEDDE9E2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s-ES" dirty="0"/>
              <a:t>Presentación de lanzamiento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BFC0B64-8F13-426F-B6C5-9C9427ACA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s-ES" smtClean="0"/>
              <a:pPr rtl="0"/>
              <a:t>20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778248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FFA191-5CCC-43CB-BD83-4F80ED362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6875" y="1671639"/>
            <a:ext cx="5111750" cy="1204912"/>
          </a:xfrm>
        </p:spPr>
        <p:txBody>
          <a:bodyPr rtlCol="0"/>
          <a:lstStyle/>
          <a:p>
            <a:pPr rtl="0"/>
            <a:r>
              <a:rPr lang="es-ES"/>
              <a:t>RESUMEN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4BBEAF-B516-45F4-9EF6-A9F6511158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4" y="3682545"/>
            <a:ext cx="5549713" cy="1633525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s-ES"/>
              <a:t>En Contoso, creemos en dar el 110 %. Con nuestra arquitectura de datos de próxima generación, ayudamos a las empresas a administrar virtualmente flujos de trabajo ágiles. Progresamos gracias a nuestro conocimiento del mercado y al excelente equipo que hay detrás de nuestro producto. Como dice nuestra directora ejecutiva: «Seremos eficientes si logramos transformar de manera proactiva la forma en que hacemos negocios».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F8C8B5-F6EC-489B-BD0F-CD89A73CAB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s-ES"/>
              <a:t>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1AEA823-8519-4F9D-81FA-367313107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s-ES"/>
              <a:t>Presentación de lanzamiento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AEFF51B-0E28-4171-AE7C-A31AAB42B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s-ES" smtClean="0"/>
              <a:pPr rtl="0"/>
              <a:t>21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201739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</p:spPr>
        <p:txBody>
          <a:bodyPr rtlCol="0"/>
          <a:lstStyle/>
          <a:p>
            <a:pPr rtl="0"/>
            <a:r>
              <a:rPr lang="es-ES"/>
              <a:t>MUCHAS GRACIAS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4AFFC60-19C3-4901-93F7-7AAF4C09F8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 rtlCol="0">
            <a:normAutofit/>
          </a:bodyPr>
          <a:lstStyle/>
          <a:p>
            <a:pPr rtl="0"/>
            <a:r>
              <a:rPr lang="es-ES"/>
              <a:t>Mirjam Nilsson​</a:t>
            </a:r>
          </a:p>
          <a:p>
            <a:pPr rtl="0"/>
            <a:r>
              <a:rPr lang="es-ES"/>
              <a:t>206-555-0146</a:t>
            </a:r>
          </a:p>
          <a:p>
            <a:pPr rtl="0"/>
            <a:r>
              <a:rPr lang="es-ES"/>
              <a:t>mirjam@contoso.com</a:t>
            </a:r>
          </a:p>
          <a:p>
            <a:pPr rtl="0"/>
            <a:r>
              <a:rPr lang="es-ES"/>
              <a:t>www.contoso.com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DA7980-C870-4C9A-84FA-4120D8AF5D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 rtlCol="0"/>
          <a:lstStyle/>
          <a:p>
            <a:pPr rtl="0"/>
            <a:r>
              <a:rPr lang="es-ES"/>
              <a:t>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DFADE42-1A3F-40C8-A071-E57644F3D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 rtlCol="0"/>
          <a:lstStyle/>
          <a:p>
            <a:pPr rtl="0"/>
            <a:r>
              <a:rPr lang="es-ES"/>
              <a:t>Presentación de lanzamiento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EDCFF82-B70F-4971-9182-7C3AEA3CF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s-ES" smtClean="0"/>
              <a:pPr rtl="0"/>
              <a:t>22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Una sola línea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3419046_TF22318419_Win32" id="{09B7D6E8-71E0-4E9F-9533-7859122552A9}" vid="{B2A888A1-2BEF-435D-8EDA-2DF8A1A8DEF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5BA3906-9696-4247-AC0D-DD5C26B2A70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2D446390-8521-40A2-A462-EA068123BED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1E84A1C-2814-43A7-9448-348326113A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Presentación de ventas minimalista</Template>
  <TotalTime>34</TotalTime>
  <Words>1056</Words>
  <Application>Microsoft Office PowerPoint</Application>
  <PresentationFormat>Panorámica</PresentationFormat>
  <Paragraphs>335</Paragraphs>
  <Slides>22</Slides>
  <Notes>21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6" baseType="lpstr">
      <vt:lpstr>Arial</vt:lpstr>
      <vt:lpstr>Calibri</vt:lpstr>
      <vt:lpstr>Tenorite</vt:lpstr>
      <vt:lpstr>Una sola línea</vt:lpstr>
      <vt:lpstr> Sistema de gestión de proyectos Scrum</vt:lpstr>
      <vt:lpstr>motivación</vt:lpstr>
      <vt:lpstr>PLANIFICACIÓN tEMPORAL</vt:lpstr>
      <vt:lpstr>QUIÉNES SOMOS</vt:lpstr>
      <vt:lpstr>PROBLEMA</vt:lpstr>
      <vt:lpstr>SOLUCIÓN</vt:lpstr>
      <vt:lpstr>INFORMACIÓN GENERAL DEL PRODUCTO</vt:lpstr>
      <vt:lpstr>VENTAJAS DEL PRODUCTO</vt:lpstr>
      <vt:lpstr>PANORAMA DE LA EMPRESA</vt:lpstr>
      <vt:lpstr>MODELO DE NEGOCIO</vt:lpstr>
      <vt:lpstr>INFORMACIÓN GENERAL DEL MERCADO</vt:lpstr>
      <vt:lpstr>Comparativa de mercados</vt:lpstr>
      <vt:lpstr>NUESTRA COMPETENCIA</vt:lpstr>
      <vt:lpstr>Nuestra competencia  </vt:lpstr>
      <vt:lpstr>Estrategia de crecimiento</vt:lpstr>
      <vt:lpstr>AVANCE</vt:lpstr>
      <vt:lpstr>FINANZAS</vt:lpstr>
      <vt:lpstr>QUIÉNES SOMOS</vt:lpstr>
      <vt:lpstr>QUIÉNES SOMOS </vt:lpstr>
      <vt:lpstr>FINANCIACIÓN</vt:lpstr>
      <vt:lpstr>RESUMEN</vt:lpstr>
      <vt:lpstr>MUCHAS 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gestión de proyectos Scrum</dc:title>
  <dc:creator>Luis Javier Curbeira García</dc:creator>
  <cp:lastModifiedBy>Luis Javier Curbeira García</cp:lastModifiedBy>
  <cp:revision>7</cp:revision>
  <dcterms:created xsi:type="dcterms:W3CDTF">2022-06-09T05:07:24Z</dcterms:created>
  <dcterms:modified xsi:type="dcterms:W3CDTF">2022-06-09T05:42:29Z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