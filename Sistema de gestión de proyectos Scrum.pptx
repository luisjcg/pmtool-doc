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256" r:id="rId5"/>
    <p:sldId id="277" r:id="rId6"/>
    <p:sldId id="261" r:id="rId7"/>
    <p:sldId id="262" r:id="rId8"/>
    <p:sldId id="289" r:id="rId9"/>
    <p:sldId id="264" r:id="rId10"/>
    <p:sldId id="258" r:id="rId11"/>
    <p:sldId id="278" r:id="rId12"/>
    <p:sldId id="266" r:id="rId13"/>
    <p:sldId id="292" r:id="rId14"/>
    <p:sldId id="293" r:id="rId15"/>
    <p:sldId id="280" r:id="rId16"/>
    <p:sldId id="270" r:id="rId17"/>
    <p:sldId id="271" r:id="rId18"/>
    <p:sldId id="287" r:id="rId19"/>
    <p:sldId id="260" r:id="rId20"/>
    <p:sldId id="282" r:id="rId21"/>
    <p:sldId id="283" r:id="rId22"/>
    <p:sldId id="290" r:id="rId23"/>
    <p:sldId id="275" r:id="rId24"/>
    <p:sldId id="276" r:id="rId2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5736" y="8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#,##0\ "€"</c:formatCode>
                <c:ptCount val="4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0-4025-ABCB-85931C35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8"/>
        <c:overlap val="-3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</c:spPr>
        </c:majorGridlines>
        <c:numFmt formatCode="#,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6-4310-A8B0-2035D854994C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6-4310-A8B0-2035D854994C}"/>
              </c:ext>
            </c:extLst>
          </c:dPt>
          <c:dPt>
            <c:idx val="2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6-4310-A8B0-2035D854994C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E6-4310-A8B0-2035D854994C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E6-4310-A8B0-2035D8549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EE-4329-89F6-BD625CE6A08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EE-4329-89F6-BD625CE6A08A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8EE-4329-89F6-BD625CE6A08A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8EE-4329-89F6-BD625CE6A08A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EE-4329-89F6-BD625CE6A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39-4882-B53F-7D54DC816E33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39-4882-B53F-7D54DC816E33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39-4882-B53F-7D54DC816E33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39-4882-B53F-7D54DC816E33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39-4882-B53F-7D54DC816E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EE-4C20-AC0D-26BEDCBA2F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EE-4C20-AC0D-26BEDCBA2FE1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EE-4C20-AC0D-26BEDCBA2FE1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EE-4C20-AC0D-26BEDCBA2FE1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EE-4C20-AC0D-26BEDCBA2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DA49006-DE92-401C-BC9A-E01A2E9A55AD}" type="datetime1">
              <a:rPr lang="es-ES" smtClean="0"/>
              <a:t>09/06/2022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2296-4015-4C4F-A06C-A353B4B3F106}" type="datetime1">
              <a:rPr lang="es-ES" smtClean="0"/>
              <a:pPr/>
              <a:t>09/06/2022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83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6010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366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065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7039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665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813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4458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278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062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27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9055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822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8808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419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384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884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364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400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892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458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o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31" name="Marcador de fecha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2" name="Marcador de pie de página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3" name="Marcador de número de diapositiva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10" Type="http://schemas.openxmlformats.org/officeDocument/2006/relationships/image" Target="../media/image38.jpg"/><Relationship Id="rId4" Type="http://schemas.openxmlformats.org/officeDocument/2006/relationships/image" Target="../media/image32.jpg"/><Relationship Id="rId9" Type="http://schemas.openxmlformats.org/officeDocument/2006/relationships/image" Target="../media/image3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br>
              <a:rPr lang="es-ES" dirty="0"/>
            </a:br>
            <a:r>
              <a:rPr lang="es-ES" dirty="0"/>
              <a:t>Sistema de gestión de proyectos 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s-ES"/>
              <a:t>Mirjam Nilsson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pPr rtl="0"/>
            <a:r>
              <a:rPr lang="es-ES"/>
              <a:t>QUIÉNES SOMOS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91338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En Contoso, ayudamos a las empresas a fomentar el pensamiento colaborativo para impulsar aún más la innovación en el área de trabajo. Cerramos el bucle y aprovechamos los marcos ágiles, así ayudamos a que el negocio crezca de manera orgánica y a potenciar la mentalidad centrada en el consumidor.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 rtlCol="0"/>
          <a:lstStyle/>
          <a:p>
            <a:pPr rtl="0"/>
            <a:r>
              <a:rPr lang="es-ES"/>
              <a:t>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rtl="0"/>
            <a:r>
              <a:rPr lang="es-ES"/>
              <a:t>BRECHA EN EL MERCADO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CLIENTES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FINANZAS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COSTES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Algunos productos del mercado, si los hay, ayudan a los clientes como nosotros lo hacemos.</a:t>
            </a:r>
          </a:p>
          <a:p>
            <a:pPr rtl="0"/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El 66 % de los consumidores de EE. UU. invierte dinero en varios productos que solo resuelven su problema de manera parcial.</a:t>
            </a:r>
          </a:p>
          <a:p>
            <a:pPr rtl="0"/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Los millennials representan aproximadamente un cuarto de los 48 mil millones de dólares invertidos en 2018 en otros productos.</a:t>
            </a:r>
          </a:p>
          <a:p>
            <a:pPr rtl="0"/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Pérdida de productividad que cuesta a los consumidores miles de dólares </a:t>
            </a:r>
          </a:p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80" name="Marcador de pie de página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CERRAR LA BRECHA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Nuestro producto hace la vida más fácil a los consumidores y ningún otro producto del mercado ofrece las mismas características.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PÚBLICO OBJETIVO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Nuestro público objetivo es la generación Z (de 18 a 25 años).</a:t>
            </a:r>
          </a:p>
          <a:p>
            <a:pPr rtl="0"/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AHORRO DE COSTOS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Reducir los gastos de los productos de repuesto </a:t>
            </a:r>
          </a:p>
          <a:p>
            <a:pPr rtl="0"/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FÁCIL DE USAR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Diseño sencillo que proporciona a los clientes la información específica que necesitan</a:t>
            </a:r>
          </a:p>
        </p:txBody>
      </p:sp>
      <p:sp>
        <p:nvSpPr>
          <p:cNvPr id="80" name="Marcador de fecha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81" name="Marcador de pie de página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s-ES"/>
              <a:t>INFORMACIÓN GENERAL DEL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ÚNICO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Un producto orientado específicamente a este mercado especializado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INNOVADOR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Producto innovador con un diseño atractivo, es elegante y funcional.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PROBADO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Se ha probado en estudiantes universitarios del sector.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AUTÉNTICO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Diseñado con la ayuda y la entrada de expertos en el campo </a:t>
            </a:r>
          </a:p>
        </p:txBody>
      </p:sp>
      <p:sp>
        <p:nvSpPr>
          <p:cNvPr id="20" name="Marcador de fecha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pPr rtl="0"/>
            <a:r>
              <a:rPr lang="es-ES" dirty="0"/>
              <a:t>VENTAJAS DEL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dirty="0"/>
              <a:t>Producto interesante y elegante</a:t>
            </a:r>
          </a:p>
          <a:p>
            <a:pPr rtl="0"/>
            <a:r>
              <a:rPr lang="es-ES" noProof="1"/>
              <a:t>Áreas para conectar con la comunidad </a:t>
            </a:r>
          </a:p>
          <a:p>
            <a:pPr rtl="0"/>
            <a:r>
              <a:rPr lang="es-ES" noProof="1"/>
              <a:t>Tienda en línea e intercambio de mercado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pPr rtl="0"/>
            <a:r>
              <a:rPr lang="es-ES"/>
              <a:t>PANORAMA DE LA EMPRESA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s-ES"/>
              <a:t>MODELO DE NEGOCIO</a:t>
            </a:r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 noProof="1"/>
              <a:t>RESUMEN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Basamos nuestra investigación en tendencias de mercado y redes sociales.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 noProof="1"/>
              <a:t>DISEÑO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Creemos que la gente necesita más productos dedicados específicamente a este mercado especializado.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 noProof="1"/>
              <a:t>INVESTIGACIÓN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Simple y fácil de usar </a:t>
            </a:r>
          </a:p>
        </p:txBody>
      </p:sp>
      <p:sp>
        <p:nvSpPr>
          <p:cNvPr id="32" name="Marcador de fecha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INFORMACIÓN GENERAL DEL MERCADO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/>
          <a:lstStyle/>
          <a:p>
            <a:pPr rtl="0"/>
            <a:r>
              <a:rPr lang="es-ES"/>
              <a:t>3000 M €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320339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Libertad para inventar</a:t>
            </a:r>
            <a:endParaRPr lang="es-ES"/>
          </a:p>
          <a:p>
            <a:pPr rtl="0"/>
            <a:r>
              <a:rPr lang="es-ES" noProof="1"/>
              <a:t>Mercado inclusivo de forma selectiva</a:t>
            </a:r>
          </a:p>
          <a:p>
            <a:pPr rtl="0"/>
            <a:r>
              <a:rPr lang="es-ES" noProof="1"/>
              <a:t>Mercado disponible útil</a:t>
            </a:r>
          </a:p>
          <a:p>
            <a:pPr rtl="0"/>
            <a:endParaRPr lang="es-ES" noProof="1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/>
          <a:lstStyle/>
          <a:p>
            <a:pPr rtl="0"/>
            <a:r>
              <a:rPr lang="es-ES"/>
              <a:t>1000 M €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/>
          <a:lstStyle/>
          <a:p>
            <a:pPr rtl="0"/>
            <a:r>
              <a:rPr lang="es-ES"/>
              <a:t>Oportunidad de crear</a:t>
            </a:r>
          </a:p>
          <a:p>
            <a:pPr rtl="0"/>
            <a:r>
              <a:rPr lang="es-ES"/>
              <a:t>Mercado totalmente inclusivo</a:t>
            </a:r>
          </a:p>
          <a:p>
            <a:pPr rtl="0"/>
            <a:r>
              <a:rPr lang="es-ES"/>
              <a:t>Mercado total disponible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/>
              <a:t>2000 M €</a:t>
            </a:r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3203390" cy="1997867"/>
          </a:xfrm>
        </p:spPr>
        <p:txBody>
          <a:bodyPr rtlCol="0"/>
          <a:lstStyle/>
          <a:p>
            <a:pPr rtl="0"/>
            <a:r>
              <a:rPr lang="es-ES" noProof="1"/>
              <a:t>Pocos competidores</a:t>
            </a:r>
          </a:p>
          <a:p>
            <a:pPr rtl="0"/>
            <a:r>
              <a:rPr lang="es-ES" noProof="1"/>
              <a:t>Mercado dirigido a un público específico</a:t>
            </a:r>
          </a:p>
          <a:p>
            <a:pPr rtl="0"/>
            <a:r>
              <a:rPr lang="es-ES" noProof="1"/>
              <a:t>Mercado obtenible útil</a:t>
            </a:r>
            <a:endParaRPr lang="es-ES"/>
          </a:p>
          <a:p>
            <a:pPr rtl="0"/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Comparativa de mercados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5698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3000 M €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097022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2000 M €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508682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1000 M €</a:t>
            </a: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824188"/>
            <a:ext cx="4164290" cy="462927"/>
          </a:xfrm>
        </p:spPr>
        <p:txBody>
          <a:bodyPr rtlCol="0"/>
          <a:lstStyle/>
          <a:p>
            <a:pPr rtl="0"/>
            <a:r>
              <a:rPr lang="es-ES"/>
              <a:t>Oportunidad de crear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F296843C-0ED0-4314-A6F0-DD60C828D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Mercado disponible</a:t>
            </a:r>
          </a:p>
        </p:txBody>
      </p:sp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86519" y="4824188"/>
            <a:ext cx="3818964" cy="462927"/>
          </a:xfrm>
        </p:spPr>
        <p:txBody>
          <a:bodyPr rtlCol="0"/>
          <a:lstStyle/>
          <a:p>
            <a:pPr rtl="0"/>
            <a:r>
              <a:rPr lang="es-ES"/>
              <a:t>Libertad para inventar</a:t>
            </a:r>
          </a:p>
        </p:txBody>
      </p:sp>
      <p:sp>
        <p:nvSpPr>
          <p:cNvPr id="23" name="Marcador de contenido 22">
            <a:extLst>
              <a:ext uri="{FF2B5EF4-FFF2-40B4-BE49-F238E27FC236}">
                <a16:creationId xmlns:a16="http://schemas.microsoft.com/office/drawing/2014/main" id="{649BF20C-562E-400E-BEA6-1D5F81F2FE4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/>
          <a:lstStyle/>
          <a:p>
            <a:pPr rtl="0"/>
            <a:r>
              <a:rPr lang="es-ES"/>
              <a:t>Mercado útil</a:t>
            </a:r>
          </a:p>
        </p:txBody>
      </p:sp>
      <p:sp>
        <p:nvSpPr>
          <p:cNvPr id="21" name="Marcador de contenido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Pocos competidores</a:t>
            </a: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5AA25980-D334-4FC0-9091-936E53B8D32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Mercado obtenible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NUESTRA COMPETENCIA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/>
          <a:p>
            <a:pPr rtl="0"/>
            <a:r>
              <a:rPr lang="es-ES"/>
              <a:t>CONTOSO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699" y="3834606"/>
            <a:ext cx="4214225" cy="2368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El precio de nuestro producto es inferior al de otras empresas del mercado.</a:t>
            </a:r>
          </a:p>
          <a:p>
            <a:pPr rtl="0"/>
            <a:r>
              <a:rPr lang="es-ES" noProof="1"/>
              <a:t>El diseño es sencillo y fácil de usar, en comparación con los diseños complejos de los competidores.</a:t>
            </a:r>
          </a:p>
          <a:p>
            <a:pPr rtl="0"/>
            <a:r>
              <a:rPr lang="es-ES" noProof="1"/>
              <a:t>La asequibilidad es el principal motivo para que nuestros consumidores puedan usar nuestro producto.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/>
          <a:lstStyle/>
          <a:p>
            <a:pPr rtl="0"/>
            <a:r>
              <a:rPr lang="es-ES"/>
              <a:t>COMPETENCIA</a:t>
            </a:r>
            <a:endParaRPr lang="es-ES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4234980" cy="2368970"/>
          </a:xfrm>
        </p:spPr>
        <p:txBody>
          <a:bodyPr rtlCol="0">
            <a:normAutofit/>
          </a:bodyPr>
          <a:lstStyle/>
          <a:p>
            <a:pPr rtl="0"/>
            <a:r>
              <a:rPr lang="es-ES" b="1" noProof="1"/>
              <a:t>Empresa A</a:t>
            </a:r>
            <a:br>
              <a:rPr lang="es-ES" noProof="1"/>
            </a:br>
            <a:r>
              <a:rPr lang="es-ES" noProof="1"/>
              <a:t>El producto es más caro</a:t>
            </a:r>
          </a:p>
          <a:p>
            <a:pPr rtl="0"/>
            <a:r>
              <a:rPr lang="es-ES" b="1" noProof="1"/>
              <a:t>Empresas B y C </a:t>
            </a:r>
            <a:br>
              <a:rPr lang="es-ES" noProof="1"/>
            </a:br>
            <a:r>
              <a:rPr lang="es-ES" noProof="1"/>
              <a:t>El producto es costoso e incómodo de usar</a:t>
            </a:r>
          </a:p>
          <a:p>
            <a:pPr rtl="0"/>
            <a:r>
              <a:rPr lang="es-ES" b="1" noProof="1"/>
              <a:t>Empresas D y E</a:t>
            </a:r>
            <a:br>
              <a:rPr lang="es-ES" noProof="1"/>
            </a:br>
            <a:r>
              <a:rPr lang="es-ES" noProof="1"/>
              <a:t>El producto es asequible, pero incómodo de usar</a:t>
            </a:r>
          </a:p>
        </p:txBody>
      </p:sp>
      <p:sp>
        <p:nvSpPr>
          <p:cNvPr id="12" name="Marcador de fecha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7409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es-ES"/>
              <a:t>Nuestra competencia 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Practicidad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Competidor A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BF7EE2E1-DA9E-4645-BC0D-305C1F1211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22269" y="2169263"/>
            <a:ext cx="1706965" cy="1048575"/>
          </a:xfrm>
        </p:spPr>
        <p:txBody>
          <a:bodyPr rtlCol="0"/>
          <a:lstStyle/>
          <a:p>
            <a:pPr rtl="0"/>
            <a:r>
              <a:rPr lang="es-ES"/>
              <a:t>Contoso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1894" y="3528829"/>
            <a:ext cx="1393863" cy="492025"/>
          </a:xfrm>
        </p:spPr>
        <p:txBody>
          <a:bodyPr rtlCol="0"/>
          <a:lstStyle/>
          <a:p>
            <a:pPr rtl="0"/>
            <a:r>
              <a:rPr lang="es-ES"/>
              <a:t>Asequible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3219" y="3528829"/>
            <a:ext cx="1380681" cy="492025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Caro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B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459860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C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Incómodo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E</a:t>
            </a:r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63" name="Gráfico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97401" y="207299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s-ES"/>
              <a:t>Estrategia de crecimiento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Feb. 20XX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Implementar el producto en participantes de alto perfil o nivel para ayudar a establecer el producto.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Mzo. 20XX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Lanzar el producto para el público general y supervisar las notas de prensa y las cuentas de redes sociales.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Oct. 20XX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Recopilar comentarios y ajustar el diseño del producto según sea necesario.</a:t>
            </a:r>
          </a:p>
          <a:p>
            <a:pPr rtl="0"/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 rtlCol="0"/>
          <a:lstStyle/>
          <a:p>
            <a:pPr rtl="0"/>
            <a:r>
              <a:rPr lang="es-ES" dirty="0"/>
              <a:t>AVANCE</a:t>
            </a:r>
          </a:p>
        </p:txBody>
      </p:sp>
      <p:sp>
        <p:nvSpPr>
          <p:cNvPr id="75" name="Marcador de texto 74">
            <a:extLst>
              <a:ext uri="{FF2B5EF4-FFF2-40B4-BE49-F238E27FC236}">
                <a16:creationId xmlns:a16="http://schemas.microsoft.com/office/drawing/2014/main" id="{5425916A-A2C0-45C3-9A48-E48DEB97F6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/>
          <a:lstStyle/>
          <a:p>
            <a:pPr rtl="0"/>
            <a:r>
              <a:rPr lang="es-ES" dirty="0"/>
              <a:t>Previsión para lograr nuestro objetivo</a:t>
            </a:r>
          </a:p>
        </p:txBody>
      </p:sp>
      <p:graphicFrame>
        <p:nvGraphicFramePr>
          <p:cNvPr id="53" name="Tabla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431362577"/>
              </p:ext>
            </p:extLst>
          </p:nvPr>
        </p:nvGraphicFramePr>
        <p:xfrm>
          <a:off x="838200" y="2286000"/>
          <a:ext cx="6099051" cy="3713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3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1068233346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3019130451"/>
                    </a:ext>
                  </a:extLst>
                </a:gridCol>
              </a:tblGrid>
              <a:tr h="308774">
                <a:tc>
                  <a:txBody>
                    <a:bodyPr/>
                    <a:lstStyle/>
                    <a:p>
                      <a:pPr algn="r" rtl="0"/>
                      <a:r>
                        <a:rPr lang="es-ES" sz="1400" b="0" cap="all" spc="150" noProof="0">
                          <a:solidFill>
                            <a:schemeClr val="bg1"/>
                          </a:solidFill>
                          <a:latin typeface="+mj-lt"/>
                        </a:rPr>
                        <a:t>Métricas clave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endParaRPr lang="es-ES" sz="1200" noProof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Clientes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Pedidos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Ingresos brutos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Ingresos netos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7.000 €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16.000 €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25.000 €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 dirty="0">
                          <a:solidFill>
                            <a:schemeClr val="tx1"/>
                          </a:solidFill>
                        </a:rPr>
                        <a:t>30.000 €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</a:tbl>
          </a:graphicData>
        </a:graphic>
      </p:graphicFrame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54CD4A7-4E1A-4902-993B-81A396A36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INGRESOS ANUALES</a:t>
            </a:r>
          </a:p>
        </p:txBody>
      </p:sp>
      <p:graphicFrame>
        <p:nvGraphicFramePr>
          <p:cNvPr id="34" name="Marcador de contenido 13" descr="Gráfico">
            <a:extLst>
              <a:ext uri="{FF2B5EF4-FFF2-40B4-BE49-F238E27FC236}">
                <a16:creationId xmlns:a16="http://schemas.microsoft.com/office/drawing/2014/main" id="{9E19FFD2-695D-4BD0-AA46-41C8970D76E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646833262"/>
              </p:ext>
            </p:extLst>
          </p:nvPr>
        </p:nvGraphicFramePr>
        <p:xfrm>
          <a:off x="7858125" y="2779713"/>
          <a:ext cx="3148013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14</a:t>
            </a:fld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es-ES"/>
              <a:t>PLAN DE ACCIÓN PARA DOS AÑOS</a:t>
            </a:r>
          </a:p>
        </p:txBody>
      </p:sp>
      <p:sp>
        <p:nvSpPr>
          <p:cNvPr id="110" name="Marcador de texto 31">
            <a:extLst>
              <a:ext uri="{FF2B5EF4-FFF2-40B4-BE49-F238E27FC236}">
                <a16:creationId xmlns:a16="http://schemas.microsoft.com/office/drawing/2014/main" id="{2FF506C9-7C92-4B9C-A356-9B519D03C78D}"/>
              </a:ext>
            </a:extLst>
          </p:cNvPr>
          <p:cNvSpPr txBox="1">
            <a:spLocks/>
          </p:cNvSpPr>
          <p:nvPr/>
        </p:nvSpPr>
        <p:spPr>
          <a:xfrm>
            <a:off x="2042184" y="2220913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BORRADORES</a:t>
            </a:r>
            <a:endParaRPr lang="es-ES" sz="1100"/>
          </a:p>
        </p:txBody>
      </p:sp>
      <p:sp>
        <p:nvSpPr>
          <p:cNvPr id="52" name="Marcador de texto 31">
            <a:extLst>
              <a:ext uri="{FF2B5EF4-FFF2-40B4-BE49-F238E27FC236}">
                <a16:creationId xmlns:a16="http://schemas.microsoft.com/office/drawing/2014/main" id="{EFC30FAC-E9E5-427E-B670-7978BE575652}"/>
              </a:ext>
            </a:extLst>
          </p:cNvPr>
          <p:cNvSpPr txBox="1">
            <a:spLocks/>
          </p:cNvSpPr>
          <p:nvPr/>
        </p:nvSpPr>
        <p:spPr>
          <a:xfrm>
            <a:off x="5190031" y="2218613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RECOPILACIÓN DE COMENTARIOS</a:t>
            </a:r>
            <a:endParaRPr lang="es-ES" sz="1100"/>
          </a:p>
        </p:txBody>
      </p:sp>
      <p:sp>
        <p:nvSpPr>
          <p:cNvPr id="54" name="Marcador de texto 31">
            <a:extLst>
              <a:ext uri="{FF2B5EF4-FFF2-40B4-BE49-F238E27FC236}">
                <a16:creationId xmlns:a16="http://schemas.microsoft.com/office/drawing/2014/main" id="{E0CD2DAB-9E42-4D11-A98D-56ECD20DBC7E}"/>
              </a:ext>
            </a:extLst>
          </p:cNvPr>
          <p:cNvSpPr txBox="1">
            <a:spLocks/>
          </p:cNvSpPr>
          <p:nvPr/>
        </p:nvSpPr>
        <p:spPr>
          <a:xfrm>
            <a:off x="9121117" y="2222398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ENTREGA AL CLIENTE</a:t>
            </a:r>
            <a:endParaRPr lang="es-ES" sz="110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ENE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FEB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MAR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ABR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MAYO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JUL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AGO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SEP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OCT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NOV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DIC</a:t>
            </a:r>
          </a:p>
        </p:txBody>
      </p:sp>
      <p:sp>
        <p:nvSpPr>
          <p:cNvPr id="11" name="Año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ENE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FEB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MAR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ABR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MAYO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JUN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JUL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AGO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SEP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OCT</a:t>
            </a:r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NOV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DIC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7AAE5EC1-092E-4A01-B866-C63F654A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073920" y="2904543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044DC497-37D3-454C-98C5-A4A1043E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218933" y="2901831"/>
            <a:ext cx="6667" cy="53802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EF3C6EDC-B2DD-42F0-911D-04963A0F2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150019" y="2905616"/>
            <a:ext cx="0" cy="532327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FBB4508-2CA6-4A49-9EAD-91DB1B20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4179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8989049-2208-43EB-A323-1B5374E0A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2137" y="3439855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3093EB5-1D82-4E0B-A4EF-8517FC047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6556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56" name="Marcador de texto 31">
            <a:extLst>
              <a:ext uri="{FF2B5EF4-FFF2-40B4-BE49-F238E27FC236}">
                <a16:creationId xmlns:a16="http://schemas.microsoft.com/office/drawing/2014/main" id="{6E8FAB27-F000-4DFF-8595-B8ADBB6058E9}"/>
              </a:ext>
            </a:extLst>
          </p:cNvPr>
          <p:cNvSpPr txBox="1">
            <a:spLocks/>
          </p:cNvSpPr>
          <p:nvPr/>
        </p:nvSpPr>
        <p:spPr>
          <a:xfrm>
            <a:off x="1259117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HACER GRUPOS DE DISCUSIÓN</a:t>
            </a:r>
            <a:endParaRPr lang="es-ES" sz="1100"/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C8EDAF4-CF26-40C7-AACE-2482D9323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2286000" y="4638776"/>
            <a:ext cx="2019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Marcador de texto 31">
            <a:extLst>
              <a:ext uri="{FF2B5EF4-FFF2-40B4-BE49-F238E27FC236}">
                <a16:creationId xmlns:a16="http://schemas.microsoft.com/office/drawing/2014/main" id="{234079D9-E00C-4C6B-9F2D-D0BCB9C9D7D8}"/>
              </a:ext>
            </a:extLst>
          </p:cNvPr>
          <p:cNvSpPr txBox="1">
            <a:spLocks/>
          </p:cNvSpPr>
          <p:nvPr/>
        </p:nvSpPr>
        <p:spPr>
          <a:xfrm>
            <a:off x="4406652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DISEÑO DE PRUEBA</a:t>
            </a:r>
            <a:endParaRPr lang="es-ES" sz="1100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8C93671-1250-4705-A092-97036B901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434293" y="4638776"/>
            <a:ext cx="1261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Marcador de texto 31">
            <a:extLst>
              <a:ext uri="{FF2B5EF4-FFF2-40B4-BE49-F238E27FC236}">
                <a16:creationId xmlns:a16="http://schemas.microsoft.com/office/drawing/2014/main" id="{7C5F4630-959D-43D6-A6F0-5D5F3A4117C1}"/>
              </a:ext>
            </a:extLst>
          </p:cNvPr>
          <p:cNvSpPr txBox="1">
            <a:spLocks/>
          </p:cNvSpPr>
          <p:nvPr/>
        </p:nvSpPr>
        <p:spPr>
          <a:xfrm>
            <a:off x="7581698" y="5206365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>
                <a:latin typeface="+mj-lt"/>
                <a:ea typeface="+mj-ea"/>
                <a:cs typeface="+mj-cs"/>
              </a:rPr>
              <a:t>LANZAR DISEÑO</a:t>
            </a:r>
            <a:endParaRPr lang="es-ES" sz="1100"/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F6C72AC5-2842-4966-BBE7-6F407A9C3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591938" y="4638776"/>
            <a:ext cx="0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DC26F87-2877-496A-B506-6A562ACD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22537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4959EA3-B71F-49E3-A68E-1329BE046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0830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82DCB52-65FA-4B5F-8785-060AF61C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475" y="4363848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66" name="Marcador de fecha 65">
            <a:extLst>
              <a:ext uri="{FF2B5EF4-FFF2-40B4-BE49-F238E27FC236}">
                <a16:creationId xmlns:a16="http://schemas.microsoft.com/office/drawing/2014/main" id="{FF303B66-BE3D-4142-824A-9EE2B01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9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es-ES"/>
              <a:t>FINANZAS</a:t>
            </a:r>
          </a:p>
        </p:txBody>
      </p:sp>
      <p:graphicFrame>
        <p:nvGraphicFramePr>
          <p:cNvPr id="17" name="Tabla 9">
            <a:extLst>
              <a:ext uri="{FF2B5EF4-FFF2-40B4-BE49-F238E27FC236}">
                <a16:creationId xmlns:a16="http://schemas.microsoft.com/office/drawing/2014/main" id="{CD227AD3-0512-4367-9783-E5F086A86CF5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1296501112"/>
              </p:ext>
            </p:extLst>
          </p:nvPr>
        </p:nvGraphicFramePr>
        <p:xfrm>
          <a:off x="838200" y="2138363"/>
          <a:ext cx="10515596" cy="370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076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717424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118664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277791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  <a:gridCol w="1166641">
                  <a:extLst>
                    <a:ext uri="{9D8B030D-6E8A-4147-A177-3AD203B41FA5}">
                      <a16:colId xmlns:a16="http://schemas.microsoft.com/office/drawing/2014/main" val="3235153012"/>
                    </a:ext>
                  </a:extLst>
                </a:gridCol>
              </a:tblGrid>
              <a:tr h="284706"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1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2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3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INGRESOS</a:t>
                      </a: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Ventas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16.000.000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Precio medio por venta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15 % de los ingresos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5.625.000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48.000.000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216.000.000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BENEFICIO BRUTO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5.625.000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48.000.000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216.000.000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Gastos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22160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Ventas y marketing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5.062.500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38.400.000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151.200.000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70 %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0709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Atención al cliente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1.687.500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9.600.000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10 %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6840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Desarrollo del producto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562.500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10.800.000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88327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Investigación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281.250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4.320.000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3307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GASTOS TOTALES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7.593.750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52.800.000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187.920.000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45645"/>
                  </a:ext>
                </a:extLst>
              </a:tr>
            </a:tbl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3B6BDC-0568-466F-91ED-52067B36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A559BE-816C-475D-9ADA-DDFDF14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QUIÉNES SOMOS</a:t>
            </a:r>
          </a:p>
        </p:txBody>
      </p:sp>
      <p:pic>
        <p:nvPicPr>
          <p:cNvPr id="26" name="Marcador de posición de imagen 25" descr="Primer plano de una persona del equipo">
            <a:extLst>
              <a:ext uri="{FF2B5EF4-FFF2-40B4-BE49-F238E27FC236}">
                <a16:creationId xmlns:a16="http://schemas.microsoft.com/office/drawing/2014/main" id="{C38F90B4-657F-4EA8-B86E-B9BD2E8B7B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181" y="2886074"/>
            <a:ext cx="1845511" cy="1845511"/>
          </a:xfrm>
        </p:spPr>
      </p:pic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7BAD1FFF-8B97-4CD1-85E7-B7738EAD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1558" y="5084524"/>
            <a:ext cx="2196619" cy="343061"/>
          </a:xfrm>
        </p:spPr>
        <p:txBody>
          <a:bodyPr rtlCol="0"/>
          <a:lstStyle/>
          <a:p>
            <a:pPr rtl="0"/>
            <a:r>
              <a:rPr lang="es-ES"/>
              <a:t>TAKUMA HAYASHI​</a:t>
            </a:r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B76FA389-A54D-4E4B-81DA-DBA175D78FE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 rtlCol="0"/>
          <a:lstStyle/>
          <a:p>
            <a:pPr rtl="0"/>
            <a:r>
              <a:rPr lang="es-ES"/>
              <a:t>Presidente</a:t>
            </a:r>
          </a:p>
        </p:txBody>
      </p:sp>
      <p:pic>
        <p:nvPicPr>
          <p:cNvPr id="47" name="Marcador de posición de imagen 46" descr="Primer plano de una persona del equipo">
            <a:extLst>
              <a:ext uri="{FF2B5EF4-FFF2-40B4-BE49-F238E27FC236}">
                <a16:creationId xmlns:a16="http://schemas.microsoft.com/office/drawing/2014/main" id="{8AF5260A-2860-4F88-BA4D-70530D3E14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6914" y="2886074"/>
            <a:ext cx="1845511" cy="1845511"/>
          </a:xfrm>
        </p:spPr>
      </p:pic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10C8C8C1-99D8-4034-A628-DECEB703BA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07607" y="5099206"/>
            <a:ext cx="2145049" cy="343061"/>
          </a:xfrm>
        </p:spPr>
        <p:txBody>
          <a:bodyPr rtlCol="0"/>
          <a:lstStyle/>
          <a:p>
            <a:pPr rtl="0"/>
            <a:r>
              <a:rPr lang="es-ES"/>
              <a:t>MIRJAM NILSSON​</a:t>
            </a:r>
          </a:p>
        </p:txBody>
      </p:sp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65786675-BFC6-4743-BFD3-D64691F771D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 rtlCol="0"/>
          <a:lstStyle/>
          <a:p>
            <a:pPr rtl="0"/>
            <a:r>
              <a:rPr lang="es-ES"/>
              <a:t>Directora ejecutiva</a:t>
            </a:r>
          </a:p>
        </p:txBody>
      </p:sp>
      <p:pic>
        <p:nvPicPr>
          <p:cNvPr id="45" name="Marcador de posición de imagen 44" descr="Primer plano de una persona del equipo">
            <a:extLst>
              <a:ext uri="{FF2B5EF4-FFF2-40B4-BE49-F238E27FC236}">
                <a16:creationId xmlns:a16="http://schemas.microsoft.com/office/drawing/2014/main" id="{4442FA67-BF04-4E45-BFD9-78BF43789E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578" y="2886074"/>
            <a:ext cx="1845511" cy="1845511"/>
          </a:xfrm>
        </p:spPr>
      </p:pic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08CA58D6-00FD-4D81-A0F6-215C4D558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271" y="5099206"/>
            <a:ext cx="2132985" cy="343061"/>
          </a:xfrm>
        </p:spPr>
        <p:txBody>
          <a:bodyPr rtlCol="0"/>
          <a:lstStyle/>
          <a:p>
            <a:pPr rtl="0"/>
            <a:r>
              <a:rPr lang="es-ES"/>
              <a:t>FLORA BERGGREN​</a:t>
            </a:r>
          </a:p>
        </p:txBody>
      </p:sp>
      <p:sp>
        <p:nvSpPr>
          <p:cNvPr id="38" name="Marcador de texto 37">
            <a:extLst>
              <a:ext uri="{FF2B5EF4-FFF2-40B4-BE49-F238E27FC236}">
                <a16:creationId xmlns:a16="http://schemas.microsoft.com/office/drawing/2014/main" id="{97062F49-F468-4EA6-B6BF-94BFF89FDC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 rtlCol="0"/>
          <a:lstStyle/>
          <a:p>
            <a:pPr rtl="0"/>
            <a:r>
              <a:rPr lang="es-ES"/>
              <a:t>Directora de operaciones</a:t>
            </a:r>
          </a:p>
          <a:p>
            <a:pPr rtl="0"/>
            <a:endParaRPr lang="es-ES"/>
          </a:p>
        </p:txBody>
      </p:sp>
      <p:pic>
        <p:nvPicPr>
          <p:cNvPr id="43" name="Marcador de posición de imagen 42" descr="Primer plano de una persona del equipo">
            <a:extLst>
              <a:ext uri="{FF2B5EF4-FFF2-40B4-BE49-F238E27FC236}">
                <a16:creationId xmlns:a16="http://schemas.microsoft.com/office/drawing/2014/main" id="{F328CD15-EA0E-49AD-A3C6-5798A372AA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7458" y="2886074"/>
            <a:ext cx="1845511" cy="1845511"/>
          </a:xfrm>
        </p:spPr>
      </p:pic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60D37431-6A3A-47F6-A367-B5ADCF66AE3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18152" y="5084524"/>
            <a:ext cx="2132984" cy="343061"/>
          </a:xfrm>
        </p:spPr>
        <p:txBody>
          <a:bodyPr rtlCol="0"/>
          <a:lstStyle/>
          <a:p>
            <a:pPr rtl="0"/>
            <a:r>
              <a:rPr lang="es-ES"/>
              <a:t>RAJESH SANTOSHI​</a:t>
            </a:r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59D9F00A-8CF0-41E8-9BB6-3B8ECDA55D4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 rtlCol="0"/>
          <a:lstStyle/>
          <a:p>
            <a:pPr rtl="0"/>
            <a:r>
              <a:rPr lang="es-ES"/>
              <a:t>Vicepresidente de marketing</a:t>
            </a:r>
          </a:p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QUIÉNES SOMOS </a:t>
            </a:r>
          </a:p>
        </p:txBody>
      </p:sp>
      <p:pic>
        <p:nvPicPr>
          <p:cNvPr id="38" name="Marcador de posición de imagen 37" descr="Primer plano de una persona del equipo">
            <a:extLst>
              <a:ext uri="{FF2B5EF4-FFF2-40B4-BE49-F238E27FC236}">
                <a16:creationId xmlns:a16="http://schemas.microsoft.com/office/drawing/2014/main" id="{76554518-1C01-4B26-9940-1C04FC9D73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2428875"/>
            <a:ext cx="1066800" cy="1066800"/>
          </a:xfrm>
        </p:spPr>
      </p:pic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23BA8AAF-B08B-441B-AAF3-590A5683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TAKUMA HAYASHI</a:t>
            </a:r>
          </a:p>
          <a:p>
            <a:pPr rtl="0"/>
            <a:endParaRPr lang="es-ES"/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E07741A2-243F-4086-945C-BCA1F24E6DB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90120" y="3782039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Presidente</a:t>
            </a:r>
          </a:p>
        </p:txBody>
      </p:sp>
      <p:pic>
        <p:nvPicPr>
          <p:cNvPr id="42" name="Marcador de posición de imagen 41" descr="Primer plano de una persona del equipo">
            <a:extLst>
              <a:ext uri="{FF2B5EF4-FFF2-40B4-BE49-F238E27FC236}">
                <a16:creationId xmlns:a16="http://schemas.microsoft.com/office/drawing/2014/main" id="{CB092FE3-5F48-4433-B8FF-114D1CD7437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2428875"/>
            <a:ext cx="1066800" cy="1066800"/>
          </a:xfrm>
        </p:spPr>
      </p:pic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27CB5CB7-B854-4F48-954C-5CF86CC9146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69060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MIRJAM NILSSON​</a:t>
            </a:r>
          </a:p>
        </p:txBody>
      </p:sp>
      <p:sp>
        <p:nvSpPr>
          <p:cNvPr id="61" name="Marcador de texto 60">
            <a:extLst>
              <a:ext uri="{FF2B5EF4-FFF2-40B4-BE49-F238E27FC236}">
                <a16:creationId xmlns:a16="http://schemas.microsoft.com/office/drawing/2014/main" id="{F1C860E6-FF87-419F-8B26-B8EA4D5F3D3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739214" y="3796721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Directora ejecutiva</a:t>
            </a:r>
          </a:p>
        </p:txBody>
      </p:sp>
      <p:pic>
        <p:nvPicPr>
          <p:cNvPr id="46" name="Marcador de posición de imagen 45" descr="Primer plano de una persona del equipo">
            <a:extLst>
              <a:ext uri="{FF2B5EF4-FFF2-40B4-BE49-F238E27FC236}">
                <a16:creationId xmlns:a16="http://schemas.microsoft.com/office/drawing/2014/main" id="{570FC090-540A-41E2-99FA-7B7BC171A64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2428875"/>
            <a:ext cx="1066800" cy="1066800"/>
          </a:xfrm>
        </p:spPr>
      </p:pic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40F887C-E8EB-4467-90FE-023D47FFB45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39926" y="3669060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FLORA BERGGREN​</a:t>
            </a:r>
          </a:p>
          <a:p>
            <a:pPr rtl="0"/>
            <a:endParaRPr lang="es-ES"/>
          </a:p>
        </p:txBody>
      </p:sp>
      <p:sp>
        <p:nvSpPr>
          <p:cNvPr id="62" name="Marcador de texto 61">
            <a:extLst>
              <a:ext uri="{FF2B5EF4-FFF2-40B4-BE49-F238E27FC236}">
                <a16:creationId xmlns:a16="http://schemas.microsoft.com/office/drawing/2014/main" id="{F1AF6C54-9939-432B-BBC2-5E0C0F8B2D8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17963" y="3796721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Directora de operaciones</a:t>
            </a:r>
          </a:p>
        </p:txBody>
      </p:sp>
      <p:pic>
        <p:nvPicPr>
          <p:cNvPr id="54" name="Marcador de posición de imagen 53" descr="Primer plano de una persona del equipo">
            <a:extLst>
              <a:ext uri="{FF2B5EF4-FFF2-40B4-BE49-F238E27FC236}">
                <a16:creationId xmlns:a16="http://schemas.microsoft.com/office/drawing/2014/main" id="{79B06025-9CB9-45C4-BF20-7D0D27D1B81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2428875"/>
            <a:ext cx="1066800" cy="1066800"/>
          </a:xfrm>
        </p:spPr>
      </p:pic>
      <p:sp>
        <p:nvSpPr>
          <p:cNvPr id="51" name="Marcador de texto 50">
            <a:extLst>
              <a:ext uri="{FF2B5EF4-FFF2-40B4-BE49-F238E27FC236}">
                <a16:creationId xmlns:a16="http://schemas.microsoft.com/office/drawing/2014/main" id="{C1C77C5B-2A5F-4999-A5BF-F60EA88DE49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RAJESH SANTOSHI</a:t>
            </a:r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41797063-0A46-4FCE-86CB-FC66F997C5F4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362429" y="3782039"/>
            <a:ext cx="2601406" cy="343061"/>
          </a:xfrm>
        </p:spPr>
        <p:txBody>
          <a:bodyPr rtlCol="0"/>
          <a:lstStyle/>
          <a:p>
            <a:pPr rtl="0"/>
            <a:r>
              <a:rPr lang="es-ES"/>
              <a:t>Vicepresidente de marketing</a:t>
            </a:r>
          </a:p>
        </p:txBody>
      </p:sp>
      <p:pic>
        <p:nvPicPr>
          <p:cNvPr id="58" name="Marcador de posición de imagen 57" descr="Primer plano de una persona del equipo">
            <a:extLst>
              <a:ext uri="{FF2B5EF4-FFF2-40B4-BE49-F238E27FC236}">
                <a16:creationId xmlns:a16="http://schemas.microsoft.com/office/drawing/2014/main" id="{84ACB9E1-B019-4966-9E07-8D06D40BDDD3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4287711"/>
            <a:ext cx="1066800" cy="1066800"/>
          </a:xfrm>
        </p:spPr>
      </p:pic>
      <p:sp>
        <p:nvSpPr>
          <p:cNvPr id="64" name="Marcador de texto 63">
            <a:extLst>
              <a:ext uri="{FF2B5EF4-FFF2-40B4-BE49-F238E27FC236}">
                <a16:creationId xmlns:a16="http://schemas.microsoft.com/office/drawing/2014/main" id="{3ECD1D6F-7DAE-4DCC-BBB4-CD519379CDF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GRAHAM BARNES</a:t>
            </a:r>
          </a:p>
          <a:p>
            <a:pPr rtl="0"/>
            <a:endParaRPr lang="es-ES"/>
          </a:p>
        </p:txBody>
      </p:sp>
      <p:sp>
        <p:nvSpPr>
          <p:cNvPr id="72" name="Marcador de texto 71">
            <a:extLst>
              <a:ext uri="{FF2B5EF4-FFF2-40B4-BE49-F238E27FC236}">
                <a16:creationId xmlns:a16="http://schemas.microsoft.com/office/drawing/2014/main" id="{0420E7B5-7D79-437C-BC6E-11C9C9C73D12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390120" y="5640875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Vicepresidente de producto</a:t>
            </a:r>
          </a:p>
        </p:txBody>
      </p:sp>
      <p:pic>
        <p:nvPicPr>
          <p:cNvPr id="66" name="Marcador de posición de imagen 65" descr="Primer plano de una persona del equipo">
            <a:extLst>
              <a:ext uri="{FF2B5EF4-FFF2-40B4-BE49-F238E27FC236}">
                <a16:creationId xmlns:a16="http://schemas.microsoft.com/office/drawing/2014/main" id="{D61AF03E-3F4A-4F5E-BA7C-C1DF611CEA4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4287711"/>
            <a:ext cx="1066800" cy="1066800"/>
          </a:xfrm>
        </p:spPr>
      </p:pic>
      <p:sp>
        <p:nvSpPr>
          <p:cNvPr id="69" name="Marcador de texto 68">
            <a:extLst>
              <a:ext uri="{FF2B5EF4-FFF2-40B4-BE49-F238E27FC236}">
                <a16:creationId xmlns:a16="http://schemas.microsoft.com/office/drawing/2014/main" id="{A5A9CD8D-31A9-4139-87B2-349EA8E14781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27896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ROWAN MURPHY</a:t>
            </a:r>
          </a:p>
          <a:p>
            <a:pPr rtl="0"/>
            <a:endParaRPr lang="es-ES"/>
          </a:p>
        </p:txBody>
      </p:sp>
      <p:sp>
        <p:nvSpPr>
          <p:cNvPr id="73" name="Marcador de texto 72">
            <a:extLst>
              <a:ext uri="{FF2B5EF4-FFF2-40B4-BE49-F238E27FC236}">
                <a16:creationId xmlns:a16="http://schemas.microsoft.com/office/drawing/2014/main" id="{E1FCDD58-01CD-47CF-AB15-A511E9D3612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739214" y="5655557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Estratega en SEO</a:t>
            </a:r>
          </a:p>
        </p:txBody>
      </p:sp>
      <p:pic>
        <p:nvPicPr>
          <p:cNvPr id="78" name="Marcador de posición de imagen 77" descr="Primer plano de una persona del equipo">
            <a:extLst>
              <a:ext uri="{FF2B5EF4-FFF2-40B4-BE49-F238E27FC236}">
                <a16:creationId xmlns:a16="http://schemas.microsoft.com/office/drawing/2014/main" id="{C0C63D45-D8C0-4899-A4AC-EA536EBA3E9D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4287711"/>
            <a:ext cx="1066800" cy="1066800"/>
          </a:xfrm>
        </p:spPr>
      </p:pic>
      <p:sp>
        <p:nvSpPr>
          <p:cNvPr id="70" name="Marcador de texto 69">
            <a:extLst>
              <a:ext uri="{FF2B5EF4-FFF2-40B4-BE49-F238E27FC236}">
                <a16:creationId xmlns:a16="http://schemas.microsoft.com/office/drawing/2014/main" id="{58753412-8033-48AD-80DF-945C72BC7335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27896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ELIZABETH MOORE</a:t>
            </a:r>
          </a:p>
        </p:txBody>
      </p:sp>
      <p:sp>
        <p:nvSpPr>
          <p:cNvPr id="74" name="Marcador de texto 73">
            <a:extLst>
              <a:ext uri="{FF2B5EF4-FFF2-40B4-BE49-F238E27FC236}">
                <a16:creationId xmlns:a16="http://schemas.microsoft.com/office/drawing/2014/main" id="{2E2604A9-4BB8-4144-914B-DCF4F13DF3D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229878" y="5655557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Diseñadora de productos</a:t>
            </a:r>
          </a:p>
        </p:txBody>
      </p:sp>
      <p:pic>
        <p:nvPicPr>
          <p:cNvPr id="83" name="Marcador de posición de imagen 82" descr="Primer plano de una persona del equipo">
            <a:extLst>
              <a:ext uri="{FF2B5EF4-FFF2-40B4-BE49-F238E27FC236}">
                <a16:creationId xmlns:a16="http://schemas.microsoft.com/office/drawing/2014/main" id="{3640DB2F-E9FF-4506-B751-D3C6F935A4DD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4287711"/>
            <a:ext cx="1066800" cy="1066800"/>
          </a:xfrm>
        </p:spPr>
      </p:pic>
      <p:sp>
        <p:nvSpPr>
          <p:cNvPr id="71" name="Marcador de texto 70">
            <a:extLst>
              <a:ext uri="{FF2B5EF4-FFF2-40B4-BE49-F238E27FC236}">
                <a16:creationId xmlns:a16="http://schemas.microsoft.com/office/drawing/2014/main" id="{A45FE9A3-15E0-49FA-B6E5-DB16CD0C2C8F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ROBIN KLINE</a:t>
            </a:r>
          </a:p>
        </p:txBody>
      </p:sp>
      <p:sp>
        <p:nvSpPr>
          <p:cNvPr id="75" name="Marcador de texto 74">
            <a:extLst>
              <a:ext uri="{FF2B5EF4-FFF2-40B4-BE49-F238E27FC236}">
                <a16:creationId xmlns:a16="http://schemas.microsoft.com/office/drawing/2014/main" id="{72076C4D-9688-4C1A-AB51-8F1051A803A9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362429" y="5640875"/>
            <a:ext cx="2601406" cy="343061"/>
          </a:xfrm>
        </p:spPr>
        <p:txBody>
          <a:bodyPr rtlCol="0"/>
          <a:lstStyle/>
          <a:p>
            <a:pPr rtl="0"/>
            <a:r>
              <a:rPr lang="es-ES"/>
              <a:t>Desarrolladora de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EB4DEA-4DCD-421C-A905-7EFCAE89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BF33B-5572-4A00-A55C-1E13A6B3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 dirty="0"/>
              <a:t>FINANCIACIÓN</a:t>
            </a:r>
          </a:p>
        </p:txBody>
      </p:sp>
      <p:graphicFrame>
        <p:nvGraphicFramePr>
          <p:cNvPr id="126" name="Marcador de contenido 125" title="Gráfico de la financiación">
            <a:extLst>
              <a:ext uri="{FF2B5EF4-FFF2-40B4-BE49-F238E27FC236}">
                <a16:creationId xmlns:a16="http://schemas.microsoft.com/office/drawing/2014/main" id="{A036AFA2-B0F0-4DE7-B7AE-E4B852EB3D36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940446203"/>
              </p:ext>
            </p:extLst>
          </p:nvPr>
        </p:nvGraphicFramePr>
        <p:xfrm>
          <a:off x="1074738" y="2119313"/>
          <a:ext cx="1857375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A4739B-8DE9-4523-8034-4E83861C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14.000 €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487CCC0-D329-4C1F-A1CD-04930A23C5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ÁNGELES INVERSORES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CF2BB3-1E12-4189-9F5F-EF136C62E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rtlCol="0"/>
          <a:lstStyle/>
          <a:p>
            <a:pPr rtl="0"/>
            <a:r>
              <a:rPr lang="es-ES" dirty="0"/>
              <a:t>Importe obtenido a través de otros inversores</a:t>
            </a:r>
          </a:p>
        </p:txBody>
      </p:sp>
      <p:graphicFrame>
        <p:nvGraphicFramePr>
          <p:cNvPr id="127" name="Marcador de contenido 126" title="Gráfico de la financiación">
            <a:extLst>
              <a:ext uri="{FF2B5EF4-FFF2-40B4-BE49-F238E27FC236}">
                <a16:creationId xmlns:a16="http://schemas.microsoft.com/office/drawing/2014/main" id="{47DB352F-5059-4378-B91D-92E59C6B1B91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481682741"/>
              </p:ext>
            </p:extLst>
          </p:nvPr>
        </p:nvGraphicFramePr>
        <p:xfrm>
          <a:off x="3811588" y="2119313"/>
          <a:ext cx="1855787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145D0E-892D-492B-8AD6-551CF27DD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62665" y="3788813"/>
            <a:ext cx="2342205" cy="804859"/>
          </a:xfrm>
        </p:spPr>
        <p:txBody>
          <a:bodyPr rtlCol="0"/>
          <a:lstStyle/>
          <a:p>
            <a:pPr rtl="0"/>
            <a:r>
              <a:rPr lang="es-ES" dirty="0"/>
              <a:t>12.000 € 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4E62770-EE0A-4D83-B50E-CD86805603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2665" y="4464810"/>
            <a:ext cx="2342205" cy="438505"/>
          </a:xfrm>
        </p:spPr>
        <p:txBody>
          <a:bodyPr rtlCol="0"/>
          <a:lstStyle/>
          <a:p>
            <a:pPr rtl="0"/>
            <a:r>
              <a:rPr lang="es-ES" dirty="0"/>
              <a:t>PROPIEDADES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D3951E-8DE6-4BA9-B9BA-CFCDF432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rtlCol="0"/>
          <a:lstStyle/>
          <a:p>
            <a:pPr rtl="0"/>
            <a:r>
              <a:rPr lang="es-ES" dirty="0"/>
              <a:t>Ingresos obtenidos del alquiler de inmuebles</a:t>
            </a:r>
          </a:p>
        </p:txBody>
      </p:sp>
      <p:graphicFrame>
        <p:nvGraphicFramePr>
          <p:cNvPr id="128" name="Marcador de contenido 127" title="Gráfico de la financiación">
            <a:extLst>
              <a:ext uri="{FF2B5EF4-FFF2-40B4-BE49-F238E27FC236}">
                <a16:creationId xmlns:a16="http://schemas.microsoft.com/office/drawing/2014/main" id="{87227872-8A65-49E5-922E-C5FA7A158972}"/>
              </a:ext>
            </a:extLst>
          </p:cNvPr>
          <p:cNvGraphicFramePr>
            <a:graphicFrameLocks noGrp="1"/>
          </p:cNvGraphicFramePr>
          <p:nvPr>
            <p:ph sz="quarter" idx="23"/>
            <p:extLst>
              <p:ext uri="{D42A27DB-BD31-4B8C-83A1-F6EECF244321}">
                <p14:modId xmlns:p14="http://schemas.microsoft.com/office/powerpoint/2010/main" val="5099324"/>
              </p:ext>
            </p:extLst>
          </p:nvPr>
        </p:nvGraphicFramePr>
        <p:xfrm>
          <a:off x="6524625" y="2119313"/>
          <a:ext cx="1855788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66E4F1A-AD73-4086-B578-235F0B9F1F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82.000 €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AB421C5-B6AC-48B8-8AEB-AB16AAE501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ACCIONES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45C82A0-3F56-47BD-9FB2-6B56DA715F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rtlCol="0"/>
          <a:lstStyle/>
          <a:p>
            <a:pPr rtl="0"/>
            <a:r>
              <a:rPr lang="es-ES" dirty="0"/>
              <a:t>Número de acciones convertidas en EUR</a:t>
            </a:r>
          </a:p>
          <a:p>
            <a:pPr rtl="0"/>
            <a:endParaRPr lang="es-ES" noProof="1"/>
          </a:p>
        </p:txBody>
      </p:sp>
      <p:graphicFrame>
        <p:nvGraphicFramePr>
          <p:cNvPr id="129" name="Marcador de contenido 128" title="Gráfico de la financiación">
            <a:extLst>
              <a:ext uri="{FF2B5EF4-FFF2-40B4-BE49-F238E27FC236}">
                <a16:creationId xmlns:a16="http://schemas.microsoft.com/office/drawing/2014/main" id="{C5A16E70-0D42-492E-9123-5E9A696ECB43}"/>
              </a:ext>
            </a:extLst>
          </p:cNvPr>
          <p:cNvGraphicFramePr>
            <a:graphicFrameLocks noGrp="1"/>
          </p:cNvGraphicFramePr>
          <p:nvPr>
            <p:ph sz="quarter" idx="24"/>
            <p:extLst>
              <p:ext uri="{D42A27DB-BD31-4B8C-83A1-F6EECF244321}">
                <p14:modId xmlns:p14="http://schemas.microsoft.com/office/powerpoint/2010/main" val="2324925863"/>
              </p:ext>
            </p:extLst>
          </p:nvPr>
        </p:nvGraphicFramePr>
        <p:xfrm>
          <a:off x="9259888" y="2119313"/>
          <a:ext cx="1857375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70E657A-85D8-48A8-B017-274F0C32C5C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023074" y="3788457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32.000 €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025753CB-8973-4FAE-BB5D-5CC96CE338D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23074" y="4464454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EFECTIVO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69F9DEC9-77BC-482D-ACFB-0F2B6DC65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rtlCol="0"/>
          <a:lstStyle/>
          <a:p>
            <a:pPr rtl="0"/>
            <a:r>
              <a:rPr lang="es-ES" noProof="1"/>
              <a:t>Dinero líquido que </a:t>
            </a:r>
            <a:br>
              <a:rPr lang="es-ES" noProof="1"/>
            </a:br>
            <a:r>
              <a:rPr lang="es-ES" noProof="1"/>
              <a:t>tenemos disponible</a:t>
            </a:r>
          </a:p>
          <a:p>
            <a:pPr rtl="0"/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63C171-5812-4E79-804A-ED04E1B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D8A4DC-ECAA-4D59-BE12-EBEDDE9E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/>
          <a:lstStyle/>
          <a:p>
            <a:pPr rtl="0"/>
            <a:r>
              <a:rPr lang="es-ES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4" y="3682545"/>
            <a:ext cx="5549713" cy="1633525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rtl="0"/>
            <a:r>
              <a:rPr lang="es-ES"/>
              <a:t>En Contoso, creemos en dar el 110 %. Con nuestra arquitectura de datos de próxima generación, ayudamos a las empresas a administrar virtualmente flujos de trabajo ágiles. Progresamos gracias a nuestro conocimiento del mercado y al excelente equipo que hay detrás de nuestro producto. Como dice nuestra directora ejecutiva: «Seremos eficientes si logramos transformar de manera proactiva la forma en que hacemos negocios».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s-ES"/>
              <a:t>MUCHAS 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Mirjam Nilsson​</a:t>
            </a:r>
          </a:p>
          <a:p>
            <a:pPr rtl="0"/>
            <a:r>
              <a:rPr lang="es-ES"/>
              <a:t>206-555-0146</a:t>
            </a:r>
          </a:p>
          <a:p>
            <a:pPr rtl="0"/>
            <a:r>
              <a:rPr lang="es-ES"/>
              <a:t>mirjam@contoso.com</a:t>
            </a:r>
          </a:p>
          <a:p>
            <a:pPr rtl="0"/>
            <a:r>
              <a:rPr lang="es-ES"/>
              <a:t>www.contoso.com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6_TF22318419_Win32" id="{09B7D6E8-71E0-4E9F-9533-7859122552A9}" vid="{B2A888A1-2BEF-435D-8EDA-2DF8A1A8DE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</Template>
  <TotalTime>1</TotalTime>
  <Words>1027</Words>
  <Application>Microsoft Office PowerPoint</Application>
  <PresentationFormat>Panorámica</PresentationFormat>
  <Paragraphs>328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Tenorite</vt:lpstr>
      <vt:lpstr>Una sola línea</vt:lpstr>
      <vt:lpstr> Sistema de gestión de proyectos Scrum</vt:lpstr>
      <vt:lpstr>QUIÉNES SOMOS</vt:lpstr>
      <vt:lpstr>PROBLEMA</vt:lpstr>
      <vt:lpstr>SOLUCIÓN</vt:lpstr>
      <vt:lpstr>INFORMACIÓN GENERAL DEL PRODUCTO</vt:lpstr>
      <vt:lpstr>VENTAJAS DEL PRODUCTO</vt:lpstr>
      <vt:lpstr>PANORAMA DE LA EMPRESA</vt:lpstr>
      <vt:lpstr>MODELO DE NEGOCIO</vt:lpstr>
      <vt:lpstr>INFORMACIÓN GENERAL DEL MERCADO</vt:lpstr>
      <vt:lpstr>Comparativa de mercados</vt:lpstr>
      <vt:lpstr>NUESTRA COMPETENCIA</vt:lpstr>
      <vt:lpstr>Nuestra competencia  </vt:lpstr>
      <vt:lpstr>Estrategia de crecimiento</vt:lpstr>
      <vt:lpstr>AVANCE</vt:lpstr>
      <vt:lpstr>PLAN DE ACCIÓN PARA DOS AÑOS</vt:lpstr>
      <vt:lpstr>FINANZAS</vt:lpstr>
      <vt:lpstr>QUIÉNES SOMOS</vt:lpstr>
      <vt:lpstr>QUIÉNES SOMOS </vt:lpstr>
      <vt:lpstr>FINANCIACIÓN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Sistema de gestión de proyectos Scrum</dc:title>
  <dc:creator>Luis Javier Curbeira García</dc:creator>
  <cp:lastModifiedBy>Luis Javier Curbeira García</cp:lastModifiedBy>
  <cp:revision>1</cp:revision>
  <dcterms:created xsi:type="dcterms:W3CDTF">2022-06-09T05:07:24Z</dcterms:created>
  <dcterms:modified xsi:type="dcterms:W3CDTF">2022-06-09T05:08:25Z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